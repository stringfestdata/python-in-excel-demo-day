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[0:00-2:00] OPEN
"Welcome to Python in Excel Demo Day. I'm George Mount — I run Stringfest Analytics. I help Excel users move from fragile spreadsheets to confident, scalable analysis."
Sanity check the room in chat:
"Drop a 1 if you've already turned Python in Excel on. Drop a 2 if you're here to see whether it's worth turning on. Both totally valid."
Set the frame:
"Next 45 minutes — three live demos. Each one shows something formulas alone can't do, or can do but painfully. Then I'll spend a few minutes on where to take this further. Q&amp;A at the end."
Don't start teaching yet. Energy and warmth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[2:00-4:00] ABOUT
Keep this short — under 2 minutes.
"I work with Excel users in two contexts: corporate training, where I run sessions on Python in Excel, Power Query, AI in Excel, and Modern Excel; and individuals who join my membership.
The book — Advancing into Analytics — is the long-form version of the journey from Excel to Python and R. O'Reilly Media. Real datasets, real workflow.
Today is a taste of how I teach. Hands-on, with real data, focused on the move that makes the difference — not the syntax."
Avoid: a long résumé. They came for the demo, not your 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[4:00-6:00] WHAT WE'LL SEE
Walk down the three cards. Don't dwell.
"Demo 01 is the on-ramp — your first PY() cell and the one rule that prevents the most common Python-in-Excel mistake.
Demo 02 is the workhorse — three pandas methods that replace a lot of what you'd otherwise build with formulas, helper columns, and PivotTables.
Demo 03 is the dopamine hit — a one-line chart that Excel can't draw natively."
Then signal the ending:
"After the demos I'll spend a few minutes on what to do if you want to keep going. Stick around for Q&amp;A at the end."
The 45-min budget: ~5 open + 8 demo 1 + 15 demo 2 + 10 demo 3 + 5 CTA + 5 Q&amp;A = ~48 min. Cut from demo 2 if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[6:00-8:30] MENTAL MODEL
Three layers, one stack.
"Before we open Excel, the mental model. You already have two layers — formulas and Power Query. Python in Excel is a third. They are NOT competitors.
Formulas are best for the things they're best at: small, transparent, one-off. Don't move a VLOOKUP into Python.
Power Query is your reusable shaping layer — load, clean, transform. Don't replace Power Query with pandas just because you can.
Python in Excel is for the analytical heavy lifting: descriptive stats across an entire table, grouped summaries with multiple aggregates, visualizations Excel can't draw. That's where it earns its keep."
Plant the seed: "These are not competitors." — you'll use this phrase again at the end.
Pacing watchdog: if you're past 8:30 here, skip the next slide and go straight to Demo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[8:30-15:00] DEMO 01 — HELLO WORLD + CALC ORDER
Switch to demo-01 tab of the workbook.
WHAT TO DEMO:
1. Insert a PY cell at B5. Show the PY icon in the formula bar.
2. Type: my_object = 'Hello, world!'  then newline  my_object
3. Run it. The output is the Python Object icon — click it, "Convert to Excel value".
4. In C6 (below + right), type =PY then my_object. Works.
5. In A1 (above + left), same thing. #PYTHON error.
THE TEACHING POINT:
"Recovery rule for the rest of your life: imports and variables top-left, build down and right. If a PY cell breaks, scroll up — the problem is almost always above you."
DEEPER POINT (if time):
"Why does this happen? PY cells live in Microsoft's cloud. Each cell makes a roundtrip. Excel decides the order of those roundtrips by reading the sheet top-to-bottom, left-to-right. So a cell in A1 can't see a variable defined in B5 — A1 ran first."
If something breaks live: don't troubleshoot. Say "this is exactly the kind of thing that wastes an afternoon if you don't know the rule"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[15:00-30:00] DEMO 02 — THE WORKHORSE
This is the longest demo. ~15 minutes. Don't rush.
Switch to demo-02 tab. The 'sales' table is on the sales tab — 200 rows, 7 cols.
RUN IT IN ORDER:
1. sales = xl("sales[#All]", headers=True) ; sales.head()
   Talk: "xl() is the bridge. Once it's in pandas, every method is on the table."
2. sales.shape  → (200, 7). "First check on any new dataset."
3. sales.describe()  → "This is the Analysis ToolPak in one line. Count, mean, std, the quartiles, min, max. Look at customer_age — count is less than 200. Means we have nulls."
4. sales.isna().sum()  → "Six nulls in customer_age. Now you know what to clean."
5. sales['country'].value_counts()  → "A PivotTable for frequency. Sorted by default. US 77, Germany 43..."
6. Same with normalize=True. "Now it's percentages."
7. sales.groupby('country')['unit_price'].mean() → "PivotTable, spelled in code. Split, apply, combine."
8. Two-column groupby with .agg(['mean','min','max']) — "Five countries × three categories × three statistics. Try writing that as a formula."
ANCHOR: After describe(), say ".describe() is your Analysis ToolPak — in one line." After groupby, say ".groupby() is a PivotTable spelled in code."
If asked "can a PivotTable do this?" — "Yes, for one slice. groupby chains, scales, and lets you save the result as another DataFrame for the next step."
PACING: If you hit 28:00 still on this demo, skip the two-column groupby. Get to Demo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[30:00-40:00] DEMO 03 — THE PAYOFF
Switch to demo-03 tab. Keep tight — this is the visual moment.
RUN IT:
1. sales['revenue'] = sales['unit_price'] * sales['quantity'] ; sales.head()
   "One line. New column. That's pandas math."
2. sales.corr(numeric_only=True)
   "Correlation matrix. Numbers. Useful but hard to scan."
3. import seaborn as sns ; sns.heatmap(...) with annot=True, cmap='RdBu_r', center=0.
   LET IT LAND. Don't talk over the reveal. Wait three seconds after it draws.
4. "Excel can't make this natively. Three lines."
DEEPER (if time):
- "Why RdBu_r? Diverging palette. Red = strong positive, blue = strong negative, off-white = near zero. center=0 anchors it so you can SEE direction at a glance."
- "annot=True writes the actual correlation in each cell. So you get the picture AND the numbers."
- Optional bonus: sns.pairplot(sales, hue='category') — "scatter matrix colored by category. Slow to render — don't run this live unless you have time."
IF SEABORN ERRORS: ignore the warning. The chart usually draws. If it really fails, say "the visual is in the workbook in the membership" and pivot to the CTA.
WHY THIS WORKS: people remember pictures. They came in skeptical about Python. The heatmap makes the case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[40:00-40:30] TRANSITION
Short. Just a breath between demos and CTAs.
"That was three demos in about thirty-five minutes. The next two slides are about where this gets serious if you want to keep going. Then Q&amp;A."
Don't apologize. They came for the free hour; they're allowed to hear the offer.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[40:30-43:00] THE BOOK
~2.5 minutes. Direct but not pushy.
"If today resonated, the book is where this goes. Advancing into Analytics, O'Reilly Media. It's built for Excel users — same mental model you saw today, extended into Python and R.
The reason I wrote it: there are great Python books and great Excel books, but very few that build the bridge. This one starts from formulas and ends with you analyzing real datasets with pandas.
Search 'Advancing into Analytics Mount O'Reilly' — Amazon, O'Reilly, all the usual places."
Avoid: reading the bullets. They can see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[43:00-45:00] THE MEMBERSHIP
~2 minutes. THIS IS THE PRIMARY CTA.
"Second one — the membership. Modern Excel + AI Skills.
Today's session recording goes in here later this week. So does the workbook you have. And the long-form version of each demo — same datasets, more depth, with the cells already built out.
The membership is where the workshop catalog lives. Python in Excel, Power Query, AI for Excel, Modern Excel. New sessions every month.
It's built for Excel users who want a modern toolkit without going through a bootcamp."
ACTION: Paste the link in chat NOW:
  stringfestdata.gumroad.com/l/mxlais
"Link's in the chat. If today landed, that's where to keep going."
DON'T over-sell. Let it sit. Move to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[45:00-end] Q&amp;A
Take chat questions in order. Don't go more than 90 seconds on any one.
DEFERRAL PATTERNS:
- Deep technical question ("how do I deploy this to production?") → "Great question — we go deep on that inside the membership."
- Broad question ("what should I learn first?") → Point to the book.
- Setup issue ("PY cell won't run") → One-line fix or refer to Microsoft docs.
- Off-topic ("can I do this in Google Sheets?") → "Not today's session, but happy to talk after."
CLOSE WHEN:
- You're at the wall clock OR there are no more questions OR energy starts to drop.
CLOSING LINE:
"Thanks for spending an hour with me. The recording will be in the membership later this week. Both links are still in the chat.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 FINAL CTA
Leave this on screen for the last few minutes of Q&amp;A.
Optional close:
"All three places are on this slide. Book, membership, newsletter. The membership is the main one — that's where the recording will live.
Email me directly if you have something specific. Thanks again."
Wave.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457200"/>
            <a:ext cx="2743200" cy="365760"/>
          </a:xfrm>
          <a:prstGeom prst="rect">
            <a:avLst/>
          </a:prstGeom>
          <a:noFill/>
          <a:ln/>
        </p:spPr>
        <p:txBody>
          <a:bodyPr wrap="square" rtlCol="0" anchor="ctr"/>
          <a:lstStyle/>
          <a:p>
            <a:pPr indent="0" marL="0">
              <a:buNone/>
            </a:pPr>
            <a:r>
              <a:rPr lang="en-US" sz="1400" b="1" dirty="0">
                <a:solidFill>
                  <a:srgbClr val="1F2120"/>
                </a:solidFill>
                <a:latin typeface="Arial Black" pitchFamily="34" charset="0"/>
                <a:ea typeface="Arial Black" pitchFamily="34" charset="-122"/>
                <a:cs typeface="Arial Black" pitchFamily="34" charset="-120"/>
              </a:rPr>
              <a:t>Stringfest Analytics</a:t>
            </a:r>
            <a:endParaRPr lang="en-US" sz="1400" dirty="0"/>
          </a:p>
        </p:txBody>
      </p:sp>
      <p:sp>
        <p:nvSpPr>
          <p:cNvPr id="3" name="Text 1"/>
          <p:cNvSpPr/>
          <p:nvPr/>
        </p:nvSpPr>
        <p:spPr>
          <a:xfrm>
            <a:off x="457200" y="1828800"/>
            <a:ext cx="10972800" cy="1005840"/>
          </a:xfrm>
          <a:prstGeom prst="rect">
            <a:avLst/>
          </a:prstGeom>
          <a:noFill/>
          <a:ln/>
        </p:spPr>
        <p:txBody>
          <a:bodyPr wrap="square" rtlCol="0" anchor="ctr"/>
          <a:lstStyle/>
          <a:p>
            <a:pPr indent="0" marL="0">
              <a:buNone/>
            </a:pPr>
            <a:r>
              <a:rPr lang="en-US" sz="6000" b="1" dirty="0">
                <a:solidFill>
                  <a:srgbClr val="1F2120"/>
                </a:solidFill>
                <a:latin typeface="Arial Black" pitchFamily="34" charset="0"/>
                <a:ea typeface="Arial Black" pitchFamily="34" charset="-122"/>
                <a:cs typeface="Arial Black" pitchFamily="34" charset="-120"/>
              </a:rPr>
              <a:t>Python in Excel</a:t>
            </a:r>
            <a:endParaRPr lang="en-US" sz="6000" dirty="0"/>
          </a:p>
        </p:txBody>
      </p:sp>
      <p:sp>
        <p:nvSpPr>
          <p:cNvPr id="4" name="Text 2"/>
          <p:cNvSpPr/>
          <p:nvPr/>
        </p:nvSpPr>
        <p:spPr>
          <a:xfrm>
            <a:off x="457200" y="2788920"/>
            <a:ext cx="10972800" cy="1005840"/>
          </a:xfrm>
          <a:prstGeom prst="rect">
            <a:avLst/>
          </a:prstGeom>
          <a:noFill/>
          <a:ln/>
        </p:spPr>
        <p:txBody>
          <a:bodyPr wrap="square" rtlCol="0" anchor="ctr"/>
          <a:lstStyle/>
          <a:p>
            <a:pPr indent="0" marL="0">
              <a:buNone/>
            </a:pPr>
            <a:r>
              <a:rPr lang="en-US" sz="6000" b="1" dirty="0">
                <a:solidFill>
                  <a:srgbClr val="CF3338"/>
                </a:solidFill>
                <a:latin typeface="Arial Black" pitchFamily="34" charset="0"/>
                <a:ea typeface="Arial Black" pitchFamily="34" charset="-122"/>
                <a:cs typeface="Arial Black" pitchFamily="34" charset="-120"/>
              </a:rPr>
              <a:t>Demo Day</a:t>
            </a:r>
            <a:endParaRPr lang="en-US" sz="6000" dirty="0"/>
          </a:p>
        </p:txBody>
      </p:sp>
      <p:sp>
        <p:nvSpPr>
          <p:cNvPr id="5" name="Shape 3"/>
          <p:cNvSpPr/>
          <p:nvPr/>
        </p:nvSpPr>
        <p:spPr>
          <a:xfrm>
            <a:off x="457200" y="3840480"/>
            <a:ext cx="1097280" cy="64008"/>
          </a:xfrm>
          <a:prstGeom prst="rect">
            <a:avLst/>
          </a:prstGeom>
          <a:solidFill>
            <a:srgbClr val="CF3338"/>
          </a:solidFill>
          <a:ln w="12700">
            <a:solidFill>
              <a:srgbClr val="CF3338"/>
            </a:solidFill>
            <a:prstDash val="solid"/>
          </a:ln>
        </p:spPr>
      </p:sp>
      <p:sp>
        <p:nvSpPr>
          <p:cNvPr id="6" name="Text 4"/>
          <p:cNvSpPr/>
          <p:nvPr/>
        </p:nvSpPr>
        <p:spPr>
          <a:xfrm>
            <a:off x="457200" y="4023360"/>
            <a:ext cx="10058400" cy="548640"/>
          </a:xfrm>
          <a:prstGeom prst="rect">
            <a:avLst/>
          </a:prstGeom>
          <a:noFill/>
          <a:ln/>
        </p:spPr>
        <p:txBody>
          <a:bodyPr wrap="square" rtlCol="0" anchor="ctr"/>
          <a:lstStyle/>
          <a:p>
            <a:pPr indent="0" marL="0">
              <a:buNone/>
            </a:pPr>
            <a:r>
              <a:rPr lang="en-US" sz="1800" i="1" dirty="0">
                <a:solidFill>
                  <a:srgbClr val="707070"/>
                </a:solidFill>
                <a:latin typeface="Arial" pitchFamily="34" charset="0"/>
                <a:ea typeface="Arial" pitchFamily="34" charset="-122"/>
                <a:cs typeface="Arial" pitchFamily="34" charset="-120"/>
              </a:rPr>
              <a:t>A hands-on look at what changes when Python lives inside the spreadsheet.</a:t>
            </a:r>
            <a:endParaRPr lang="en-US" sz="1800" dirty="0"/>
          </a:p>
        </p:txBody>
      </p:sp>
      <p:sp>
        <p:nvSpPr>
          <p:cNvPr id="7" name="Text 5"/>
          <p:cNvSpPr/>
          <p:nvPr/>
        </p:nvSpPr>
        <p:spPr>
          <a:xfrm>
            <a:off x="457200" y="5303520"/>
            <a:ext cx="10058400" cy="457200"/>
          </a:xfrm>
          <a:prstGeom prst="rect">
            <a:avLst/>
          </a:prstGeom>
          <a:noFill/>
          <a:ln/>
        </p:spPr>
        <p:txBody>
          <a:bodyPr wrap="square" rtlCol="0" anchor="ctr"/>
          <a:lstStyle/>
          <a:p>
            <a:pPr indent="0" marL="0">
              <a:buNone/>
            </a:pPr>
            <a:r>
              <a:rPr lang="en-US" sz="1600" b="1" dirty="0">
                <a:solidFill>
                  <a:srgbClr val="1F2120"/>
                </a:solidFill>
                <a:latin typeface="Arial" pitchFamily="34" charset="0"/>
                <a:ea typeface="Arial" pitchFamily="34" charset="-122"/>
                <a:cs typeface="Arial" pitchFamily="34" charset="-120"/>
              </a:rPr>
              <a:t>George Mount</a:t>
            </a:r>
            <a:pPr indent="0" marL="0">
              <a:buNone/>
            </a:pPr>
            <a:r>
              <a:rPr lang="en-US" sz="1600" dirty="0">
                <a:solidFill>
                  <a:srgbClr val="707070"/>
                </a:solidFill>
                <a:latin typeface="Arial" pitchFamily="34" charset="0"/>
                <a:ea typeface="Arial" pitchFamily="34" charset="-122"/>
                <a:cs typeface="Arial" pitchFamily="34" charset="-120"/>
              </a:rPr>
              <a:t>  ·  Stringfest Analytics  ·  Wednesday, August 12,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640080" y="548640"/>
            <a:ext cx="10972800" cy="914400"/>
          </a:xfrm>
          <a:prstGeom prst="rect">
            <a:avLst/>
          </a:prstGeom>
          <a:noFill/>
          <a:ln/>
        </p:spPr>
        <p:txBody>
          <a:bodyPr wrap="square" rtlCol="0" anchor="ctr"/>
          <a:lstStyle/>
          <a:p>
            <a:pPr indent="0" marL="0">
              <a:buNone/>
            </a:pPr>
            <a:r>
              <a:rPr lang="en-US" sz="4800" b="1" dirty="0">
                <a:solidFill>
                  <a:srgbClr val="FFFFFF"/>
                </a:solidFill>
                <a:latin typeface="Arial Black" pitchFamily="34" charset="0"/>
                <a:ea typeface="Arial Black" pitchFamily="34" charset="-122"/>
                <a:cs typeface="Arial Black" pitchFamily="34" charset="-120"/>
              </a:rPr>
              <a:t>Hi, I'm George.</a:t>
            </a:r>
            <a:endParaRPr lang="en-US" sz="4800" dirty="0"/>
          </a:p>
        </p:txBody>
      </p:sp>
      <p:sp>
        <p:nvSpPr>
          <p:cNvPr id="3" name="Text 1"/>
          <p:cNvSpPr/>
          <p:nvPr/>
        </p:nvSpPr>
        <p:spPr>
          <a:xfrm>
            <a:off x="640080" y="1828800"/>
            <a:ext cx="10607040" cy="2286000"/>
          </a:xfrm>
          <a:prstGeom prst="rect">
            <a:avLst/>
          </a:prstGeom>
          <a:noFill/>
          <a:ln/>
        </p:spPr>
        <p:txBody>
          <a:bodyPr wrap="square" rtlCol="0" anchor="ctr"/>
          <a:lstStyle/>
          <a:p>
            <a:pPr indent="0" marL="0">
              <a:buNone/>
            </a:pPr>
            <a:r>
              <a:rPr lang="en-US" sz="2200" b="1" dirty="0">
                <a:solidFill>
                  <a:srgbClr val="FFFFFF"/>
                </a:solidFill>
                <a:latin typeface="Arial" pitchFamily="34" charset="0"/>
                <a:ea typeface="Arial" pitchFamily="34" charset="-122"/>
                <a:cs typeface="Arial" pitchFamily="34" charset="-120"/>
              </a:rPr>
              <a:t>I run Stringfest Analytics.</a:t>
            </a:r>
            <a:endParaRPr lang="en-US" sz="2200" dirty="0"/>
          </a:p>
          <a:p>
            <a:pPr indent="0" marL="0">
              <a:buNone/>
            </a:pPr>
            <a:endParaRPr lang="en-US" sz="2200" dirty="0"/>
          </a:p>
          <a:p>
            <a:pPr indent="0" marL="0">
              <a:buNone/>
            </a:pPr>
            <a:r>
              <a:rPr lang="en-US" sz="2200" dirty="0">
                <a:solidFill>
                  <a:srgbClr val="FFFFFF"/>
                </a:solidFill>
                <a:latin typeface="Arial" pitchFamily="34" charset="0"/>
                <a:ea typeface="Arial" pitchFamily="34" charset="-122"/>
                <a:cs typeface="Arial" pitchFamily="34" charset="-120"/>
              </a:rPr>
              <a:t>I help Excel users move from fragile spreadsheets to confident, scalable analysis — through training, my book </a:t>
            </a:r>
            <a:pPr indent="0" marL="0">
              <a:buNone/>
            </a:pPr>
            <a:r>
              <a:rPr lang="en-US" sz="2200" b="1" i="1" dirty="0">
                <a:solidFill>
                  <a:srgbClr val="FFFFFF"/>
                </a:solidFill>
                <a:latin typeface="Arial" pitchFamily="34" charset="0"/>
                <a:ea typeface="Arial" pitchFamily="34" charset="-122"/>
                <a:cs typeface="Arial" pitchFamily="34" charset="-120"/>
              </a:rPr>
              <a:t>Advancing into Analytics</a:t>
            </a:r>
            <a:pPr indent="0" marL="0">
              <a:buNone/>
            </a:pPr>
            <a:r>
              <a:rPr lang="en-US" sz="2200" dirty="0">
                <a:solidFill>
                  <a:srgbClr val="FFFFFF"/>
                </a:solidFill>
                <a:latin typeface="Arial" pitchFamily="34" charset="0"/>
                <a:ea typeface="Arial" pitchFamily="34" charset="-122"/>
                <a:cs typeface="Arial" pitchFamily="34" charset="-120"/>
              </a:rPr>
              <a:t> (O'Reilly), and the Modern Excel + AI Skills membership.</a:t>
            </a:r>
            <a:endParaRPr lang="en-US" sz="2200" dirty="0"/>
          </a:p>
        </p:txBody>
      </p:sp>
      <p:sp>
        <p:nvSpPr>
          <p:cNvPr id="4" name="Text 2"/>
          <p:cNvSpPr/>
          <p:nvPr/>
        </p:nvSpPr>
        <p:spPr>
          <a:xfrm>
            <a:off x="640080" y="4389120"/>
            <a:ext cx="10972800" cy="640080"/>
          </a:xfrm>
          <a:prstGeom prst="rect">
            <a:avLst/>
          </a:prstGeom>
          <a:noFill/>
          <a:ln/>
        </p:spPr>
        <p:txBody>
          <a:bodyPr wrap="square" rtlCol="0" anchor="ctr"/>
          <a:lstStyle/>
          <a:p>
            <a:pPr indent="0" marL="0">
              <a:buNone/>
            </a:pPr>
            <a:r>
              <a:rPr lang="en-US" sz="2800" i="1" dirty="0">
                <a:solidFill>
                  <a:srgbClr val="FFFFFF"/>
                </a:solidFill>
                <a:latin typeface="Arial Black" pitchFamily="34" charset="0"/>
                <a:ea typeface="Arial Black" pitchFamily="34" charset="-122"/>
                <a:cs typeface="Arial Black" pitchFamily="34" charset="-120"/>
              </a:rPr>
              <a:t>Today is a taste of how I teach.</a:t>
            </a:r>
            <a:endParaRPr lang="en-US" sz="2800" dirty="0"/>
          </a:p>
        </p:txBody>
      </p:sp>
      <p:sp>
        <p:nvSpPr>
          <p:cNvPr id="5" name="Text 3"/>
          <p:cNvSpPr/>
          <p:nvPr/>
        </p:nvSpPr>
        <p:spPr>
          <a:xfrm>
            <a:off x="640080" y="6126480"/>
            <a:ext cx="2743200" cy="365760"/>
          </a:xfrm>
          <a:prstGeom prst="rect">
            <a:avLst/>
          </a:prstGeom>
          <a:noFill/>
          <a:ln/>
        </p:spPr>
        <p:txBody>
          <a:bodyPr wrap="square"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Stringfest Analytics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600" b="1" dirty="0">
                <a:solidFill>
                  <a:srgbClr val="1F2120"/>
                </a:solidFill>
                <a:latin typeface="Arial Black" pitchFamily="34" charset="0"/>
                <a:ea typeface="Arial Black" pitchFamily="34" charset="-122"/>
                <a:cs typeface="Arial Black" pitchFamily="34" charset="-120"/>
              </a:rPr>
              <a:t>What you'll see in the next hour</a:t>
            </a:r>
            <a:endParaRPr lang="en-US" sz="3600" dirty="0"/>
          </a:p>
        </p:txBody>
      </p:sp>
      <p:sp>
        <p:nvSpPr>
          <p:cNvPr id="3" name="Shape 1"/>
          <p:cNvSpPr/>
          <p:nvPr/>
        </p:nvSpPr>
        <p:spPr>
          <a:xfrm>
            <a:off x="548640" y="1554480"/>
            <a:ext cx="3657600" cy="4023360"/>
          </a:xfrm>
          <a:prstGeom prst="rect">
            <a:avLst/>
          </a:prstGeom>
          <a:solidFill>
            <a:srgbClr val="FFFFFF"/>
          </a:solidFill>
          <a:ln w="25400">
            <a:solidFill>
              <a:srgbClr val="CF3338"/>
            </a:solidFill>
            <a:prstDash val="solid"/>
          </a:ln>
        </p:spPr>
      </p:sp>
      <p:sp>
        <p:nvSpPr>
          <p:cNvPr id="4" name="Text 2"/>
          <p:cNvSpPr/>
          <p:nvPr/>
        </p:nvSpPr>
        <p:spPr>
          <a:xfrm>
            <a:off x="822960" y="1691640"/>
            <a:ext cx="3291840" cy="914400"/>
          </a:xfrm>
          <a:prstGeom prst="rect">
            <a:avLst/>
          </a:prstGeom>
          <a:noFill/>
          <a:ln/>
        </p:spPr>
        <p:txBody>
          <a:bodyPr wrap="square" rtlCol="0" anchor="ctr"/>
          <a:lstStyle/>
          <a:p>
            <a:pPr indent="0" marL="0">
              <a:buNone/>
            </a:pPr>
            <a:r>
              <a:rPr lang="en-US" sz="5200" b="1" dirty="0">
                <a:solidFill>
                  <a:srgbClr val="CF3338"/>
                </a:solidFill>
                <a:latin typeface="Arial Black" pitchFamily="34" charset="0"/>
                <a:ea typeface="Arial Black" pitchFamily="34" charset="-122"/>
                <a:cs typeface="Arial Black" pitchFamily="34" charset="-120"/>
              </a:rPr>
              <a:t>01</a:t>
            </a:r>
            <a:endParaRPr lang="en-US" sz="5200" dirty="0"/>
          </a:p>
        </p:txBody>
      </p:sp>
      <p:sp>
        <p:nvSpPr>
          <p:cNvPr id="5" name="Text 3"/>
          <p:cNvSpPr/>
          <p:nvPr/>
        </p:nvSpPr>
        <p:spPr>
          <a:xfrm>
            <a:off x="822960" y="2697480"/>
            <a:ext cx="3291840" cy="1371600"/>
          </a:xfrm>
          <a:prstGeom prst="rect">
            <a:avLst/>
          </a:prstGeom>
          <a:noFill/>
          <a:ln/>
        </p:spPr>
        <p:txBody>
          <a:bodyPr wrap="square" rtlCol="0" anchor="ctr"/>
          <a:lstStyle/>
          <a:p>
            <a:pPr indent="0" marL="0">
              <a:buNone/>
            </a:pPr>
            <a:r>
              <a:rPr lang="en-US" sz="2000" b="1" dirty="0">
                <a:solidFill>
                  <a:srgbClr val="1F2120"/>
                </a:solidFill>
                <a:latin typeface="Arial Black" pitchFamily="34" charset="0"/>
                <a:ea typeface="Arial Black" pitchFamily="34" charset="-122"/>
                <a:cs typeface="Arial Black" pitchFamily="34" charset="-120"/>
              </a:rPr>
              <a:t>A single cell that surprises</a:t>
            </a:r>
            <a:endParaRPr lang="en-US" sz="2000" dirty="0"/>
          </a:p>
        </p:txBody>
      </p:sp>
      <p:sp>
        <p:nvSpPr>
          <p:cNvPr id="6" name="Text 4"/>
          <p:cNvSpPr/>
          <p:nvPr/>
        </p:nvSpPr>
        <p:spPr>
          <a:xfrm>
            <a:off x="822960" y="4114800"/>
            <a:ext cx="3291840" cy="1371600"/>
          </a:xfrm>
          <a:prstGeom prst="rect">
            <a:avLst/>
          </a:prstGeom>
          <a:noFill/>
          <a:ln/>
        </p:spPr>
        <p:txBody>
          <a:bodyPr wrap="square" rtlCol="0" anchor="ctr"/>
          <a:lstStyle/>
          <a:p>
            <a:pPr indent="0" marL="0">
              <a:buNone/>
            </a:pPr>
            <a:r>
              <a:rPr lang="en-US" sz="1400" dirty="0">
                <a:solidFill>
                  <a:srgbClr val="707070"/>
                </a:solidFill>
                <a:latin typeface="Arial" pitchFamily="34" charset="0"/>
                <a:ea typeface="Arial" pitchFamily="34" charset="-122"/>
                <a:cs typeface="Arial" pitchFamily="34" charset="-120"/>
              </a:rPr>
              <a:t>Your first PY() cell — and the one rule that saves you hours of debugging.</a:t>
            </a:r>
            <a:endParaRPr lang="en-US" sz="1400" dirty="0"/>
          </a:p>
        </p:txBody>
      </p:sp>
      <p:sp>
        <p:nvSpPr>
          <p:cNvPr id="7" name="Shape 5"/>
          <p:cNvSpPr/>
          <p:nvPr/>
        </p:nvSpPr>
        <p:spPr>
          <a:xfrm>
            <a:off x="4389120" y="1554480"/>
            <a:ext cx="3657600" cy="4023360"/>
          </a:xfrm>
          <a:prstGeom prst="rect">
            <a:avLst/>
          </a:prstGeom>
          <a:solidFill>
            <a:srgbClr val="FFFFFF"/>
          </a:solidFill>
          <a:ln w="25400">
            <a:solidFill>
              <a:srgbClr val="CF3338"/>
            </a:solidFill>
            <a:prstDash val="solid"/>
          </a:ln>
        </p:spPr>
      </p:sp>
      <p:sp>
        <p:nvSpPr>
          <p:cNvPr id="8" name="Text 6"/>
          <p:cNvSpPr/>
          <p:nvPr/>
        </p:nvSpPr>
        <p:spPr>
          <a:xfrm>
            <a:off x="4663440" y="1691640"/>
            <a:ext cx="3291840" cy="914400"/>
          </a:xfrm>
          <a:prstGeom prst="rect">
            <a:avLst/>
          </a:prstGeom>
          <a:noFill/>
          <a:ln/>
        </p:spPr>
        <p:txBody>
          <a:bodyPr wrap="square" rtlCol="0" anchor="ctr"/>
          <a:lstStyle/>
          <a:p>
            <a:pPr indent="0" marL="0">
              <a:buNone/>
            </a:pPr>
            <a:r>
              <a:rPr lang="en-US" sz="5200" b="1" dirty="0">
                <a:solidFill>
                  <a:srgbClr val="CF3338"/>
                </a:solidFill>
                <a:latin typeface="Arial Black" pitchFamily="34" charset="0"/>
                <a:ea typeface="Arial Black" pitchFamily="34" charset="-122"/>
                <a:cs typeface="Arial Black" pitchFamily="34" charset="-120"/>
              </a:rPr>
              <a:t>02</a:t>
            </a:r>
            <a:endParaRPr lang="en-US" sz="5200" dirty="0"/>
          </a:p>
        </p:txBody>
      </p:sp>
      <p:sp>
        <p:nvSpPr>
          <p:cNvPr id="9" name="Text 7"/>
          <p:cNvSpPr/>
          <p:nvPr/>
        </p:nvSpPr>
        <p:spPr>
          <a:xfrm>
            <a:off x="4663440" y="2697480"/>
            <a:ext cx="3291840" cy="1371600"/>
          </a:xfrm>
          <a:prstGeom prst="rect">
            <a:avLst/>
          </a:prstGeom>
          <a:noFill/>
          <a:ln/>
        </p:spPr>
        <p:txBody>
          <a:bodyPr wrap="square" rtlCol="0" anchor="ctr"/>
          <a:lstStyle/>
          <a:p>
            <a:pPr indent="0" marL="0">
              <a:buNone/>
            </a:pPr>
            <a:r>
              <a:rPr lang="en-US" sz="2000" b="1" dirty="0">
                <a:solidFill>
                  <a:srgbClr val="1F2120"/>
                </a:solidFill>
                <a:latin typeface="Arial Black" pitchFamily="34" charset="0"/>
                <a:ea typeface="Arial Black" pitchFamily="34" charset="-122"/>
                <a:cs typeface="Arial Black" pitchFamily="34" charset="-120"/>
              </a:rPr>
              <a:t>Summarize what formulas can't</a:t>
            </a:r>
            <a:endParaRPr lang="en-US" sz="2000" dirty="0"/>
          </a:p>
        </p:txBody>
      </p:sp>
      <p:sp>
        <p:nvSpPr>
          <p:cNvPr id="10" name="Text 8"/>
          <p:cNvSpPr/>
          <p:nvPr/>
        </p:nvSpPr>
        <p:spPr>
          <a:xfrm>
            <a:off x="4663440" y="4114800"/>
            <a:ext cx="3291840" cy="1371600"/>
          </a:xfrm>
          <a:prstGeom prst="rect">
            <a:avLst/>
          </a:prstGeom>
          <a:noFill/>
          <a:ln/>
        </p:spPr>
        <p:txBody>
          <a:bodyPr wrap="square" rtlCol="0" anchor="ctr"/>
          <a:lstStyle/>
          <a:p>
            <a:pPr indent="0" marL="0">
              <a:buNone/>
            </a:pPr>
            <a:r>
              <a:rPr lang="en-US" sz="1400" dirty="0">
                <a:solidFill>
                  <a:srgbClr val="707070"/>
                </a:solidFill>
                <a:latin typeface="Arial" pitchFamily="34" charset="0"/>
                <a:ea typeface="Arial" pitchFamily="34" charset="-122"/>
                <a:cs typeface="Arial" pitchFamily="34" charset="-120"/>
              </a:rPr>
              <a:t>describe(), value_counts(), groupby() — a PivotTable, spelled in code.</a:t>
            </a:r>
            <a:endParaRPr lang="en-US" sz="1400" dirty="0"/>
          </a:p>
        </p:txBody>
      </p:sp>
      <p:sp>
        <p:nvSpPr>
          <p:cNvPr id="11" name="Shape 9"/>
          <p:cNvSpPr/>
          <p:nvPr/>
        </p:nvSpPr>
        <p:spPr>
          <a:xfrm>
            <a:off x="8229600" y="1554480"/>
            <a:ext cx="3657600" cy="4023360"/>
          </a:xfrm>
          <a:prstGeom prst="rect">
            <a:avLst/>
          </a:prstGeom>
          <a:solidFill>
            <a:srgbClr val="FFFFFF"/>
          </a:solidFill>
          <a:ln w="25400">
            <a:solidFill>
              <a:srgbClr val="CF3338"/>
            </a:solidFill>
            <a:prstDash val="solid"/>
          </a:ln>
        </p:spPr>
      </p:sp>
      <p:sp>
        <p:nvSpPr>
          <p:cNvPr id="12" name="Text 10"/>
          <p:cNvSpPr/>
          <p:nvPr/>
        </p:nvSpPr>
        <p:spPr>
          <a:xfrm>
            <a:off x="8503920" y="1691640"/>
            <a:ext cx="3291840" cy="914400"/>
          </a:xfrm>
          <a:prstGeom prst="rect">
            <a:avLst/>
          </a:prstGeom>
          <a:noFill/>
          <a:ln/>
        </p:spPr>
        <p:txBody>
          <a:bodyPr wrap="square" rtlCol="0" anchor="ctr"/>
          <a:lstStyle/>
          <a:p>
            <a:pPr indent="0" marL="0">
              <a:buNone/>
            </a:pPr>
            <a:r>
              <a:rPr lang="en-US" sz="5200" b="1" dirty="0">
                <a:solidFill>
                  <a:srgbClr val="CF3338"/>
                </a:solidFill>
                <a:latin typeface="Arial Black" pitchFamily="34" charset="0"/>
                <a:ea typeface="Arial Black" pitchFamily="34" charset="-122"/>
                <a:cs typeface="Arial Black" pitchFamily="34" charset="-120"/>
              </a:rPr>
              <a:t>03</a:t>
            </a:r>
            <a:endParaRPr lang="en-US" sz="5200" dirty="0"/>
          </a:p>
        </p:txBody>
      </p:sp>
      <p:sp>
        <p:nvSpPr>
          <p:cNvPr id="13" name="Text 11"/>
          <p:cNvSpPr/>
          <p:nvPr/>
        </p:nvSpPr>
        <p:spPr>
          <a:xfrm>
            <a:off x="8503920" y="2697480"/>
            <a:ext cx="3291840" cy="1371600"/>
          </a:xfrm>
          <a:prstGeom prst="rect">
            <a:avLst/>
          </a:prstGeom>
          <a:noFill/>
          <a:ln/>
        </p:spPr>
        <p:txBody>
          <a:bodyPr wrap="square" rtlCol="0" anchor="ctr"/>
          <a:lstStyle/>
          <a:p>
            <a:pPr indent="0" marL="0">
              <a:buNone/>
            </a:pPr>
            <a:r>
              <a:rPr lang="en-US" sz="2000" b="1" dirty="0">
                <a:solidFill>
                  <a:srgbClr val="1F2120"/>
                </a:solidFill>
                <a:latin typeface="Arial Black" pitchFamily="34" charset="0"/>
                <a:ea typeface="Arial Black" pitchFamily="34" charset="-122"/>
                <a:cs typeface="Arial Black" pitchFamily="34" charset="-120"/>
              </a:rPr>
              <a:t>A chart formulas can't draw</a:t>
            </a:r>
            <a:endParaRPr lang="en-US" sz="2000" dirty="0"/>
          </a:p>
        </p:txBody>
      </p:sp>
      <p:sp>
        <p:nvSpPr>
          <p:cNvPr id="14" name="Text 12"/>
          <p:cNvSpPr/>
          <p:nvPr/>
        </p:nvSpPr>
        <p:spPr>
          <a:xfrm>
            <a:off x="8503920" y="4114800"/>
            <a:ext cx="3291840" cy="1371600"/>
          </a:xfrm>
          <a:prstGeom prst="rect">
            <a:avLst/>
          </a:prstGeom>
          <a:noFill/>
          <a:ln/>
        </p:spPr>
        <p:txBody>
          <a:bodyPr wrap="square" rtlCol="0" anchor="ctr"/>
          <a:lstStyle/>
          <a:p>
            <a:pPr indent="0" marL="0">
              <a:buNone/>
            </a:pPr>
            <a:r>
              <a:rPr lang="en-US" sz="1400" dirty="0">
                <a:solidFill>
                  <a:srgbClr val="707070"/>
                </a:solidFill>
                <a:latin typeface="Arial" pitchFamily="34" charset="0"/>
                <a:ea typeface="Arial" pitchFamily="34" charset="-122"/>
                <a:cs typeface="Arial" pitchFamily="34" charset="-120"/>
              </a:rPr>
              <a:t>One line of seaborn that earns gasps in every workshop I run.</a:t>
            </a:r>
            <a:endParaRPr lang="en-US" sz="1400" dirty="0"/>
          </a:p>
        </p:txBody>
      </p:sp>
      <p:sp>
        <p:nvSpPr>
          <p:cNvPr id="15" name="Text 13"/>
          <p:cNvSpPr/>
          <p:nvPr/>
        </p:nvSpPr>
        <p:spPr>
          <a:xfrm>
            <a:off x="548640" y="5760720"/>
            <a:ext cx="10972800" cy="457200"/>
          </a:xfrm>
          <a:prstGeom prst="rect">
            <a:avLst/>
          </a:prstGeom>
          <a:noFill/>
          <a:ln/>
        </p:spPr>
        <p:txBody>
          <a:bodyPr wrap="square" rtlCol="0" anchor="ctr"/>
          <a:lstStyle/>
          <a:p>
            <a:pPr indent="0" marL="0">
              <a:buNone/>
            </a:pPr>
            <a:r>
              <a:rPr lang="en-US" sz="1600" i="1" dirty="0">
                <a:solidFill>
                  <a:srgbClr val="1F2120"/>
                </a:solidFill>
                <a:latin typeface="Arial" pitchFamily="34" charset="0"/>
                <a:ea typeface="Arial" pitchFamily="34" charset="-122"/>
                <a:cs typeface="Arial" pitchFamily="34" charset="-120"/>
              </a:rPr>
              <a:t>Then I'll show you where this gets serious — and how to keep going after today.</a:t>
            </a:r>
            <a:endParaRPr lang="en-US" sz="1600" dirty="0"/>
          </a:p>
        </p:txBody>
      </p:sp>
      <p:sp>
        <p:nvSpPr>
          <p:cNvPr id="16" name="Text 14"/>
          <p:cNvSpPr/>
          <p:nvPr/>
        </p:nvSpPr>
        <p:spPr>
          <a:xfrm>
            <a:off x="457200" y="6537960"/>
            <a:ext cx="7315200" cy="274320"/>
          </a:xfrm>
          <a:prstGeom prst="rect">
            <a:avLst/>
          </a:prstGeom>
          <a:noFill/>
          <a:ln/>
        </p:spPr>
        <p:txBody>
          <a:bodyPr wrap="square" rtlCol="0" anchor="ctr"/>
          <a:lstStyle/>
          <a:p>
            <a:pPr indent="0" marL="0">
              <a:buNone/>
            </a:pPr>
            <a:r>
              <a:rPr lang="en-US" sz="1000" i="1" dirty="0">
                <a:solidFill>
                  <a:srgbClr val="707070"/>
                </a:solidFill>
                <a:latin typeface="Arial" pitchFamily="34" charset="0"/>
                <a:ea typeface="Arial" pitchFamily="34" charset="-122"/>
                <a:cs typeface="Arial" pitchFamily="34" charset="-120"/>
              </a:rPr>
              <a:t>Python in Excel Demo Day  ·  stringfestanalytics.com</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457200"/>
            <a:ext cx="10972800" cy="731520"/>
          </a:xfrm>
          <a:prstGeom prst="rect">
            <a:avLst/>
          </a:prstGeom>
          <a:noFill/>
          <a:ln/>
        </p:spPr>
        <p:txBody>
          <a:bodyPr wrap="square" rtlCol="0" anchor="ctr"/>
          <a:lstStyle/>
          <a:p>
            <a:pPr indent="0" marL="0">
              <a:buNone/>
            </a:pPr>
            <a:r>
              <a:rPr lang="en-US" sz="3000" b="1" dirty="0">
                <a:solidFill>
                  <a:srgbClr val="1F2120"/>
                </a:solidFill>
                <a:latin typeface="Arial Black" pitchFamily="34" charset="0"/>
                <a:ea typeface="Arial Black" pitchFamily="34" charset="-122"/>
                <a:cs typeface="Arial Black" pitchFamily="34" charset="-120"/>
              </a:rPr>
              <a:t>Python in Excel doesn't replace your spreadsheet.</a:t>
            </a:r>
            <a:endParaRPr lang="en-US" sz="3000" dirty="0"/>
          </a:p>
        </p:txBody>
      </p:sp>
      <p:sp>
        <p:nvSpPr>
          <p:cNvPr id="3" name="Text 1"/>
          <p:cNvSpPr/>
          <p:nvPr/>
        </p:nvSpPr>
        <p:spPr>
          <a:xfrm>
            <a:off x="548640" y="1143000"/>
            <a:ext cx="10972800" cy="640080"/>
          </a:xfrm>
          <a:prstGeom prst="rect">
            <a:avLst/>
          </a:prstGeom>
          <a:noFill/>
          <a:ln/>
        </p:spPr>
        <p:txBody>
          <a:bodyPr wrap="square" rtlCol="0" anchor="ctr"/>
          <a:lstStyle/>
          <a:p>
            <a:pPr indent="0" marL="0">
              <a:buNone/>
            </a:pPr>
            <a:r>
              <a:rPr lang="en-US" sz="3000" b="1" dirty="0">
                <a:solidFill>
                  <a:srgbClr val="CF3338"/>
                </a:solidFill>
                <a:latin typeface="Arial Black" pitchFamily="34" charset="0"/>
                <a:ea typeface="Arial Black" pitchFamily="34" charset="-122"/>
                <a:cs typeface="Arial Black" pitchFamily="34" charset="-120"/>
              </a:rPr>
              <a:t>It extends it.</a:t>
            </a:r>
            <a:endParaRPr lang="en-US" sz="3000" dirty="0"/>
          </a:p>
        </p:txBody>
      </p:sp>
      <p:sp>
        <p:nvSpPr>
          <p:cNvPr id="4" name="Shape 2"/>
          <p:cNvSpPr/>
          <p:nvPr/>
        </p:nvSpPr>
        <p:spPr>
          <a:xfrm>
            <a:off x="548640" y="2194560"/>
            <a:ext cx="3657600" cy="3291840"/>
          </a:xfrm>
          <a:prstGeom prst="rect">
            <a:avLst/>
          </a:prstGeom>
          <a:solidFill>
            <a:srgbClr val="FFFFFF"/>
          </a:solidFill>
          <a:ln w="25400">
            <a:solidFill>
              <a:srgbClr val="1F2120"/>
            </a:solidFill>
            <a:prstDash val="solid"/>
          </a:ln>
        </p:spPr>
      </p:sp>
      <p:sp>
        <p:nvSpPr>
          <p:cNvPr id="5" name="Text 3"/>
          <p:cNvSpPr/>
          <p:nvPr/>
        </p:nvSpPr>
        <p:spPr>
          <a:xfrm>
            <a:off x="822960" y="2377440"/>
            <a:ext cx="3291840" cy="640080"/>
          </a:xfrm>
          <a:prstGeom prst="rect">
            <a:avLst/>
          </a:prstGeom>
          <a:noFill/>
          <a:ln/>
        </p:spPr>
        <p:txBody>
          <a:bodyPr wrap="square" rtlCol="0" anchor="ctr"/>
          <a:lstStyle/>
          <a:p>
            <a:pPr indent="0" marL="0">
              <a:buNone/>
            </a:pPr>
            <a:r>
              <a:rPr lang="en-US" sz="2400" b="1" dirty="0">
                <a:solidFill>
                  <a:srgbClr val="1F2120"/>
                </a:solidFill>
                <a:latin typeface="Arial Black" pitchFamily="34" charset="0"/>
                <a:ea typeface="Arial Black" pitchFamily="34" charset="-122"/>
                <a:cs typeface="Arial Black" pitchFamily="34" charset="-120"/>
              </a:rPr>
              <a:t>Formulas</a:t>
            </a:r>
            <a:endParaRPr lang="en-US" sz="2400" dirty="0"/>
          </a:p>
        </p:txBody>
      </p:sp>
      <p:sp>
        <p:nvSpPr>
          <p:cNvPr id="6" name="Shape 4"/>
          <p:cNvSpPr/>
          <p:nvPr/>
        </p:nvSpPr>
        <p:spPr>
          <a:xfrm>
            <a:off x="822960" y="3063240"/>
            <a:ext cx="548640" cy="45720"/>
          </a:xfrm>
          <a:prstGeom prst="rect">
            <a:avLst/>
          </a:prstGeom>
          <a:solidFill>
            <a:srgbClr val="1F2120"/>
          </a:solidFill>
          <a:ln w="12700">
            <a:solidFill>
              <a:srgbClr val="1F2120"/>
            </a:solidFill>
            <a:prstDash val="solid"/>
          </a:ln>
        </p:spPr>
      </p:sp>
      <p:sp>
        <p:nvSpPr>
          <p:cNvPr id="7" name="Text 5"/>
          <p:cNvSpPr/>
          <p:nvPr/>
        </p:nvSpPr>
        <p:spPr>
          <a:xfrm>
            <a:off x="822960" y="3246120"/>
            <a:ext cx="3200400" cy="1828800"/>
          </a:xfrm>
          <a:prstGeom prst="rect">
            <a:avLst/>
          </a:prstGeom>
          <a:noFill/>
          <a:ln/>
        </p:spPr>
        <p:txBody>
          <a:bodyPr wrap="square" rtlCol="0" anchor="ctr"/>
          <a:lstStyle/>
          <a:p>
            <a:pPr indent="0" marL="0">
              <a:buNone/>
            </a:pPr>
            <a:r>
              <a:rPr lang="en-US" sz="1500" dirty="0">
                <a:solidFill>
                  <a:srgbClr val="707070"/>
                </a:solidFill>
                <a:latin typeface="Arial" pitchFamily="34" charset="0"/>
                <a:ea typeface="Arial" pitchFamily="34" charset="-122"/>
                <a:cs typeface="Arial" pitchFamily="34" charset="-120"/>
              </a:rPr>
              <a:t>Fast, transparent, great for one-off lookups and small models.</a:t>
            </a:r>
            <a:endParaRPr lang="en-US" sz="1500" dirty="0"/>
          </a:p>
        </p:txBody>
      </p:sp>
      <p:sp>
        <p:nvSpPr>
          <p:cNvPr id="8" name="Shape 6"/>
          <p:cNvSpPr/>
          <p:nvPr/>
        </p:nvSpPr>
        <p:spPr>
          <a:xfrm>
            <a:off x="4389120" y="2194560"/>
            <a:ext cx="3657600" cy="3291840"/>
          </a:xfrm>
          <a:prstGeom prst="rect">
            <a:avLst/>
          </a:prstGeom>
          <a:solidFill>
            <a:srgbClr val="FFFFFF"/>
          </a:solidFill>
          <a:ln w="25400">
            <a:solidFill>
              <a:srgbClr val="1F2120"/>
            </a:solidFill>
            <a:prstDash val="solid"/>
          </a:ln>
        </p:spPr>
      </p:sp>
      <p:sp>
        <p:nvSpPr>
          <p:cNvPr id="9" name="Text 7"/>
          <p:cNvSpPr/>
          <p:nvPr/>
        </p:nvSpPr>
        <p:spPr>
          <a:xfrm>
            <a:off x="4663440" y="2377440"/>
            <a:ext cx="3291840" cy="640080"/>
          </a:xfrm>
          <a:prstGeom prst="rect">
            <a:avLst/>
          </a:prstGeom>
          <a:noFill/>
          <a:ln/>
        </p:spPr>
        <p:txBody>
          <a:bodyPr wrap="square" rtlCol="0" anchor="ctr"/>
          <a:lstStyle/>
          <a:p>
            <a:pPr indent="0" marL="0">
              <a:buNone/>
            </a:pPr>
            <a:r>
              <a:rPr lang="en-US" sz="2400" b="1" dirty="0">
                <a:solidFill>
                  <a:srgbClr val="1F2120"/>
                </a:solidFill>
                <a:latin typeface="Arial Black" pitchFamily="34" charset="0"/>
                <a:ea typeface="Arial Black" pitchFamily="34" charset="-122"/>
                <a:cs typeface="Arial Black" pitchFamily="34" charset="-120"/>
              </a:rPr>
              <a:t>Power Query</a:t>
            </a:r>
            <a:endParaRPr lang="en-US" sz="2400" dirty="0"/>
          </a:p>
        </p:txBody>
      </p:sp>
      <p:sp>
        <p:nvSpPr>
          <p:cNvPr id="10" name="Shape 8"/>
          <p:cNvSpPr/>
          <p:nvPr/>
        </p:nvSpPr>
        <p:spPr>
          <a:xfrm>
            <a:off x="4663440" y="3063240"/>
            <a:ext cx="548640" cy="45720"/>
          </a:xfrm>
          <a:prstGeom prst="rect">
            <a:avLst/>
          </a:prstGeom>
          <a:solidFill>
            <a:srgbClr val="1F2120"/>
          </a:solidFill>
          <a:ln w="12700">
            <a:solidFill>
              <a:srgbClr val="1F2120"/>
            </a:solidFill>
            <a:prstDash val="solid"/>
          </a:ln>
        </p:spPr>
      </p:sp>
      <p:sp>
        <p:nvSpPr>
          <p:cNvPr id="11" name="Text 9"/>
          <p:cNvSpPr/>
          <p:nvPr/>
        </p:nvSpPr>
        <p:spPr>
          <a:xfrm>
            <a:off x="4663440" y="3246120"/>
            <a:ext cx="3200400" cy="1828800"/>
          </a:xfrm>
          <a:prstGeom prst="rect">
            <a:avLst/>
          </a:prstGeom>
          <a:noFill/>
          <a:ln/>
        </p:spPr>
        <p:txBody>
          <a:bodyPr wrap="square" rtlCol="0" anchor="ctr"/>
          <a:lstStyle/>
          <a:p>
            <a:pPr indent="0" marL="0">
              <a:buNone/>
            </a:pPr>
            <a:r>
              <a:rPr lang="en-US" sz="1500" dirty="0">
                <a:solidFill>
                  <a:srgbClr val="707070"/>
                </a:solidFill>
                <a:latin typeface="Arial" pitchFamily="34" charset="0"/>
                <a:ea typeface="Arial" pitchFamily="34" charset="-122"/>
                <a:cs typeface="Arial" pitchFamily="34" charset="-120"/>
              </a:rPr>
              <a:t>Repeatable shaping and cleaning at the ingest layer.</a:t>
            </a:r>
            <a:endParaRPr lang="en-US" sz="1500" dirty="0"/>
          </a:p>
        </p:txBody>
      </p:sp>
      <p:sp>
        <p:nvSpPr>
          <p:cNvPr id="12" name="Shape 10"/>
          <p:cNvSpPr/>
          <p:nvPr/>
        </p:nvSpPr>
        <p:spPr>
          <a:xfrm>
            <a:off x="8229600" y="2194560"/>
            <a:ext cx="3657600" cy="3291840"/>
          </a:xfrm>
          <a:prstGeom prst="rect">
            <a:avLst/>
          </a:prstGeom>
          <a:solidFill>
            <a:srgbClr val="FFFFFF"/>
          </a:solidFill>
          <a:ln w="25400">
            <a:solidFill>
              <a:srgbClr val="CF3338"/>
            </a:solidFill>
            <a:prstDash val="solid"/>
          </a:ln>
        </p:spPr>
      </p:sp>
      <p:sp>
        <p:nvSpPr>
          <p:cNvPr id="13" name="Text 11"/>
          <p:cNvSpPr/>
          <p:nvPr/>
        </p:nvSpPr>
        <p:spPr>
          <a:xfrm>
            <a:off x="8503920" y="2377440"/>
            <a:ext cx="3291840" cy="640080"/>
          </a:xfrm>
          <a:prstGeom prst="rect">
            <a:avLst/>
          </a:prstGeom>
          <a:noFill/>
          <a:ln/>
        </p:spPr>
        <p:txBody>
          <a:bodyPr wrap="square" rtlCol="0" anchor="ctr"/>
          <a:lstStyle/>
          <a:p>
            <a:pPr indent="0" marL="0">
              <a:buNone/>
            </a:pPr>
            <a:r>
              <a:rPr lang="en-US" sz="2400" b="1" dirty="0">
                <a:solidFill>
                  <a:srgbClr val="CF3338"/>
                </a:solidFill>
                <a:latin typeface="Arial Black" pitchFamily="34" charset="0"/>
                <a:ea typeface="Arial Black" pitchFamily="34" charset="-122"/>
                <a:cs typeface="Arial Black" pitchFamily="34" charset="-120"/>
              </a:rPr>
              <a:t>Python (PY)</a:t>
            </a:r>
            <a:endParaRPr lang="en-US" sz="2400" dirty="0"/>
          </a:p>
        </p:txBody>
      </p:sp>
      <p:sp>
        <p:nvSpPr>
          <p:cNvPr id="14" name="Shape 12"/>
          <p:cNvSpPr/>
          <p:nvPr/>
        </p:nvSpPr>
        <p:spPr>
          <a:xfrm>
            <a:off x="8503920" y="3063240"/>
            <a:ext cx="548640" cy="45720"/>
          </a:xfrm>
          <a:prstGeom prst="rect">
            <a:avLst/>
          </a:prstGeom>
          <a:solidFill>
            <a:srgbClr val="CF3338"/>
          </a:solidFill>
          <a:ln w="12700">
            <a:solidFill>
              <a:srgbClr val="CF3338"/>
            </a:solidFill>
            <a:prstDash val="solid"/>
          </a:ln>
        </p:spPr>
      </p:sp>
      <p:sp>
        <p:nvSpPr>
          <p:cNvPr id="15" name="Text 13"/>
          <p:cNvSpPr/>
          <p:nvPr/>
        </p:nvSpPr>
        <p:spPr>
          <a:xfrm>
            <a:off x="8503920" y="3246120"/>
            <a:ext cx="3200400" cy="1828800"/>
          </a:xfrm>
          <a:prstGeom prst="rect">
            <a:avLst/>
          </a:prstGeom>
          <a:noFill/>
          <a:ln/>
        </p:spPr>
        <p:txBody>
          <a:bodyPr wrap="square" rtlCol="0" anchor="ctr"/>
          <a:lstStyle/>
          <a:p>
            <a:pPr indent="0" marL="0">
              <a:buNone/>
            </a:pPr>
            <a:r>
              <a:rPr lang="en-US" sz="1500" dirty="0">
                <a:solidFill>
                  <a:srgbClr val="707070"/>
                </a:solidFill>
                <a:latin typeface="Arial" pitchFamily="34" charset="0"/>
                <a:ea typeface="Arial" pitchFamily="34" charset="-122"/>
                <a:cs typeface="Arial" pitchFamily="34" charset="-120"/>
              </a:rPr>
              <a:t>Heavy lifting: stats, grouped summaries, visuals formulas can't draw.</a:t>
            </a:r>
            <a:endParaRPr lang="en-US" sz="1500" dirty="0"/>
          </a:p>
        </p:txBody>
      </p:sp>
      <p:sp>
        <p:nvSpPr>
          <p:cNvPr id="16" name="Text 14"/>
          <p:cNvSpPr/>
          <p:nvPr/>
        </p:nvSpPr>
        <p:spPr>
          <a:xfrm>
            <a:off x="548640" y="5760720"/>
            <a:ext cx="10972800" cy="457200"/>
          </a:xfrm>
          <a:prstGeom prst="rect">
            <a:avLst/>
          </a:prstGeom>
          <a:noFill/>
          <a:ln/>
        </p:spPr>
        <p:txBody>
          <a:bodyPr wrap="square" rtlCol="0" anchor="ctr"/>
          <a:lstStyle/>
          <a:p>
            <a:pPr indent="0" marL="0">
              <a:buNone/>
            </a:pPr>
            <a:r>
              <a:rPr lang="en-US" sz="1800" b="1" i="1" dirty="0">
                <a:solidFill>
                  <a:srgbClr val="1F2120"/>
                </a:solidFill>
                <a:latin typeface="Arial" pitchFamily="34" charset="0"/>
                <a:ea typeface="Arial" pitchFamily="34" charset="-122"/>
                <a:cs typeface="Arial" pitchFamily="34" charset="-120"/>
              </a:rPr>
              <a:t>"These are not competitors."</a:t>
            </a:r>
            <a:endParaRPr lang="en-US" sz="1800" dirty="0"/>
          </a:p>
        </p:txBody>
      </p:sp>
      <p:sp>
        <p:nvSpPr>
          <p:cNvPr id="17" name="Text 15"/>
          <p:cNvSpPr/>
          <p:nvPr/>
        </p:nvSpPr>
        <p:spPr>
          <a:xfrm>
            <a:off x="457200" y="6537960"/>
            <a:ext cx="7315200" cy="274320"/>
          </a:xfrm>
          <a:prstGeom prst="rect">
            <a:avLst/>
          </a:prstGeom>
          <a:noFill/>
          <a:ln/>
        </p:spPr>
        <p:txBody>
          <a:bodyPr wrap="square" rtlCol="0" anchor="ctr"/>
          <a:lstStyle/>
          <a:p>
            <a:pPr indent="0" marL="0">
              <a:buNone/>
            </a:pPr>
            <a:r>
              <a:rPr lang="en-US" sz="1000" i="1" dirty="0">
                <a:solidFill>
                  <a:srgbClr val="707070"/>
                </a:solidFill>
                <a:latin typeface="Arial" pitchFamily="34" charset="0"/>
                <a:ea typeface="Arial" pitchFamily="34" charset="-122"/>
                <a:cs typeface="Arial" pitchFamily="34" charset="-120"/>
              </a:rPr>
              <a:t>Python in Excel Demo Day  ·  stringfestanalytics.com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7955280" y="0"/>
            <a:ext cx="4236415" cy="6858000"/>
          </a:xfrm>
          <a:prstGeom prst="rect">
            <a:avLst/>
          </a:prstGeom>
          <a:solidFill>
            <a:srgbClr val="CF3338"/>
          </a:solidFill>
          <a:ln w="12700">
            <a:solidFill>
              <a:srgbClr val="CF3338"/>
            </a:solidFill>
            <a:prstDash val="solid"/>
          </a:ln>
        </p:spPr>
      </p:sp>
      <p:sp>
        <p:nvSpPr>
          <p:cNvPr id="3" name="Text 1"/>
          <p:cNvSpPr/>
          <p:nvPr/>
        </p:nvSpPr>
        <p:spPr>
          <a:xfrm>
            <a:off x="548640" y="457200"/>
            <a:ext cx="6858000" cy="36576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Demo 01</a:t>
            </a:r>
            <a:endParaRPr lang="en-US" sz="1400" dirty="0"/>
          </a:p>
        </p:txBody>
      </p:sp>
      <p:sp>
        <p:nvSpPr>
          <p:cNvPr id="4" name="Text 2"/>
          <p:cNvSpPr/>
          <p:nvPr/>
        </p:nvSpPr>
        <p:spPr>
          <a:xfrm>
            <a:off x="548640" y="914400"/>
            <a:ext cx="7132320" cy="1463040"/>
          </a:xfrm>
          <a:prstGeom prst="rect">
            <a:avLst/>
          </a:prstGeom>
          <a:noFill/>
          <a:ln/>
        </p:spPr>
        <p:txBody>
          <a:bodyPr wrap="square"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A single cell that surprises</a:t>
            </a:r>
            <a:endParaRPr lang="en-US" sz="3200" dirty="0"/>
          </a:p>
        </p:txBody>
      </p:sp>
      <p:sp>
        <p:nvSpPr>
          <p:cNvPr id="5" name="Text 3"/>
          <p:cNvSpPr/>
          <p:nvPr/>
        </p:nvSpPr>
        <p:spPr>
          <a:xfrm>
            <a:off x="548640" y="2743200"/>
            <a:ext cx="7132320" cy="3657600"/>
          </a:xfrm>
          <a:prstGeom prst="rect">
            <a:avLst/>
          </a:prstGeom>
          <a:noFill/>
          <a:ln/>
        </p:spPr>
        <p:txBody>
          <a:bodyPr wrap="square" rtlCol="0" anchor="ctr"/>
          <a:lstStyle/>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Insert a PY() cell with Ctrl + Alt + Shift + P</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PY cells run in Microsoft's cloud — expect a short roundtrip</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They calculate row-by-row, top to bottom, left to right</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Default output is a Python Object — click the cell icon for Excel values</a:t>
            </a:r>
            <a:endParaRPr lang="en-US" sz="1600" dirty="0"/>
          </a:p>
          <a:p>
            <a:pPr marL="342900" indent="-342900">
              <a:spcAft>
                <a:spcPts val="800"/>
              </a:spcAft>
              <a:buSzPct val="100000"/>
              <a:buChar char="■"/>
            </a:pPr>
            <a:r>
              <a:rPr lang="en-US" sz="1600" b="1" dirty="0">
                <a:solidFill>
                  <a:srgbClr val="CF3338"/>
                </a:solidFill>
                <a:latin typeface="Arial" pitchFamily="34" charset="0"/>
                <a:ea typeface="Arial" pitchFamily="34" charset="-122"/>
                <a:cs typeface="Arial" pitchFamily="34" charset="-120"/>
              </a:rPr>
              <a:t>The one rule: imports and variables top-left. Build down and right.</a:t>
            </a:r>
            <a:endParaRPr lang="en-US" sz="1600" dirty="0"/>
          </a:p>
        </p:txBody>
      </p:sp>
      <p:sp>
        <p:nvSpPr>
          <p:cNvPr id="6" name="Text 4"/>
          <p:cNvSpPr/>
          <p:nvPr/>
        </p:nvSpPr>
        <p:spPr>
          <a:xfrm>
            <a:off x="8183880" y="548640"/>
            <a:ext cx="3931920" cy="365760"/>
          </a:xfrm>
          <a:prstGeom prst="rect">
            <a:avLst/>
          </a:prstGeom>
          <a:noFill/>
          <a:ln/>
        </p:spPr>
        <p:txBody>
          <a:bodyPr wrap="square" rtlCol="0" anchor="ctr"/>
          <a:lstStyle/>
          <a:p>
            <a:pPr indent="0" marL="0">
              <a:buNone/>
            </a:pPr>
            <a:r>
              <a:rPr lang="en-US" sz="1200" i="1" dirty="0">
                <a:solidFill>
                  <a:srgbClr val="FFFFFF"/>
                </a:solidFill>
                <a:latin typeface="Arial" pitchFamily="34" charset="0"/>
                <a:ea typeface="Arial" pitchFamily="34" charset="-122"/>
                <a:cs typeface="Arial" pitchFamily="34" charset="-120"/>
              </a:rPr>
              <a:t>In Excel:</a:t>
            </a:r>
            <a:endParaRPr lang="en-US" sz="1200" dirty="0"/>
          </a:p>
        </p:txBody>
      </p:sp>
      <p:sp>
        <p:nvSpPr>
          <p:cNvPr id="7" name="Text 5"/>
          <p:cNvSpPr/>
          <p:nvPr/>
        </p:nvSpPr>
        <p:spPr>
          <a:xfrm>
            <a:off x="8183880" y="1051560"/>
            <a:ext cx="3931920" cy="5120640"/>
          </a:xfrm>
          <a:prstGeom prst="rect">
            <a:avLst/>
          </a:prstGeom>
          <a:noFill/>
          <a:ln/>
        </p:spPr>
        <p:txBody>
          <a:bodyPr wrap="square" rtlCol="0" anchor="ctr"/>
          <a:lstStyle/>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In B2:</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my_object = 'Hello, world!'</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my_object</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In C3  -&gt;  works</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my_object</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In A1  -&gt;  #PYTHON error</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my_object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7955280" y="0"/>
            <a:ext cx="4236415" cy="6858000"/>
          </a:xfrm>
          <a:prstGeom prst="rect">
            <a:avLst/>
          </a:prstGeom>
          <a:solidFill>
            <a:srgbClr val="CF3338"/>
          </a:solidFill>
          <a:ln w="12700">
            <a:solidFill>
              <a:srgbClr val="CF3338"/>
            </a:solidFill>
            <a:prstDash val="solid"/>
          </a:ln>
        </p:spPr>
      </p:sp>
      <p:sp>
        <p:nvSpPr>
          <p:cNvPr id="3" name="Text 1"/>
          <p:cNvSpPr/>
          <p:nvPr/>
        </p:nvSpPr>
        <p:spPr>
          <a:xfrm>
            <a:off x="548640" y="457200"/>
            <a:ext cx="6858000" cy="36576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Demo 02</a:t>
            </a:r>
            <a:endParaRPr lang="en-US" sz="1400" dirty="0"/>
          </a:p>
        </p:txBody>
      </p:sp>
      <p:sp>
        <p:nvSpPr>
          <p:cNvPr id="4" name="Text 2"/>
          <p:cNvSpPr/>
          <p:nvPr/>
        </p:nvSpPr>
        <p:spPr>
          <a:xfrm>
            <a:off x="548640" y="914400"/>
            <a:ext cx="7132320" cy="1463040"/>
          </a:xfrm>
          <a:prstGeom prst="rect">
            <a:avLst/>
          </a:prstGeom>
          <a:noFill/>
          <a:ln/>
        </p:spPr>
        <p:txBody>
          <a:bodyPr wrap="square"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Summarize what formulas can't</a:t>
            </a:r>
            <a:endParaRPr lang="en-US" sz="3200" dirty="0"/>
          </a:p>
        </p:txBody>
      </p:sp>
      <p:sp>
        <p:nvSpPr>
          <p:cNvPr id="5" name="Text 3"/>
          <p:cNvSpPr/>
          <p:nvPr/>
        </p:nvSpPr>
        <p:spPr>
          <a:xfrm>
            <a:off x="548640" y="2743200"/>
            <a:ext cx="7132320" cy="3657600"/>
          </a:xfrm>
          <a:prstGeom prst="rect">
            <a:avLst/>
          </a:prstGeom>
          <a:noFill/>
          <a:ln/>
        </p:spPr>
        <p:txBody>
          <a:bodyPr wrap="square" rtlCol="0" anchor="ctr"/>
          <a:lstStyle/>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xl() is the bridge — pull a table into a pandas DataFrame</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.describe() is your Analysis ToolPak — in one line</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.isna().sum() shows missing values per column</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.value_counts() is a PivotTable for frequency (try normalize=True)</a:t>
            </a:r>
            <a:endParaRPr lang="en-US" sz="1600" dirty="0"/>
          </a:p>
          <a:p>
            <a:pPr marL="342900" indent="-342900">
              <a:spcAft>
                <a:spcPts val="800"/>
              </a:spcAft>
              <a:buSzPct val="100000"/>
              <a:buChar char="■"/>
            </a:pPr>
            <a:r>
              <a:rPr lang="en-US" sz="1600" b="1" dirty="0">
                <a:solidFill>
                  <a:srgbClr val="CF3338"/>
                </a:solidFill>
                <a:latin typeface="Arial" pitchFamily="34" charset="0"/>
                <a:ea typeface="Arial" pitchFamily="34" charset="-122"/>
                <a:cs typeface="Arial" pitchFamily="34" charset="-120"/>
              </a:rPr>
              <a:t>.groupby() is a PivotTable, spelled in code: split, apply, combine</a:t>
            </a:r>
            <a:endParaRPr lang="en-US" sz="1600" dirty="0"/>
          </a:p>
        </p:txBody>
      </p:sp>
      <p:sp>
        <p:nvSpPr>
          <p:cNvPr id="6" name="Text 4"/>
          <p:cNvSpPr/>
          <p:nvPr/>
        </p:nvSpPr>
        <p:spPr>
          <a:xfrm>
            <a:off x="8183880" y="548640"/>
            <a:ext cx="3931920" cy="365760"/>
          </a:xfrm>
          <a:prstGeom prst="rect">
            <a:avLst/>
          </a:prstGeom>
          <a:noFill/>
          <a:ln/>
        </p:spPr>
        <p:txBody>
          <a:bodyPr wrap="square" rtlCol="0" anchor="ctr"/>
          <a:lstStyle/>
          <a:p>
            <a:pPr indent="0" marL="0">
              <a:buNone/>
            </a:pPr>
            <a:r>
              <a:rPr lang="en-US" sz="1200" i="1" dirty="0">
                <a:solidFill>
                  <a:srgbClr val="FFFFFF"/>
                </a:solidFill>
                <a:latin typeface="Arial" pitchFamily="34" charset="0"/>
                <a:ea typeface="Arial" pitchFamily="34" charset="-122"/>
                <a:cs typeface="Arial" pitchFamily="34" charset="-120"/>
              </a:rPr>
              <a:t>In Excel:</a:t>
            </a:r>
            <a:endParaRPr lang="en-US" sz="1200" dirty="0"/>
          </a:p>
        </p:txBody>
      </p:sp>
      <p:sp>
        <p:nvSpPr>
          <p:cNvPr id="7" name="Text 5"/>
          <p:cNvSpPr/>
          <p:nvPr/>
        </p:nvSpPr>
        <p:spPr>
          <a:xfrm>
            <a:off x="8183880" y="1051560"/>
            <a:ext cx="3931920" cy="5120640"/>
          </a:xfrm>
          <a:prstGeom prst="rect">
            <a:avLst/>
          </a:prstGeom>
          <a:noFill/>
          <a:ln/>
        </p:spPr>
        <p:txBody>
          <a:bodyPr wrap="square" rtlCol="0" anchor="ctr"/>
          <a:lstStyle/>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sales = xl("sales[#All]",</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headers=True)</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sales.describe()</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sales.isna().sum()</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sales['country'].value_counts()</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(sales</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.groupby('category')</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['unit_price']</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.mean())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CE1"/>
        </a:solidFill>
      </p:bgPr>
    </p:bg>
    <p:spTree>
      <p:nvGrpSpPr>
        <p:cNvPr id="1" name=""/>
        <p:cNvGrpSpPr/>
        <p:nvPr/>
      </p:nvGrpSpPr>
      <p:grpSpPr>
        <a:xfrm>
          <a:off x="0" y="0"/>
          <a:ext cx="0" cy="0"/>
          <a:chOff x="0" y="0"/>
          <a:chExt cx="0" cy="0"/>
        </a:xfrm>
      </p:grpSpPr>
      <p:sp>
        <p:nvSpPr>
          <p:cNvPr id="2" name="Shape 0"/>
          <p:cNvSpPr/>
          <p:nvPr/>
        </p:nvSpPr>
        <p:spPr>
          <a:xfrm>
            <a:off x="7955280" y="0"/>
            <a:ext cx="4236415" cy="6858000"/>
          </a:xfrm>
          <a:prstGeom prst="rect">
            <a:avLst/>
          </a:prstGeom>
          <a:solidFill>
            <a:srgbClr val="CF3338"/>
          </a:solidFill>
          <a:ln w="12700">
            <a:solidFill>
              <a:srgbClr val="CF3338"/>
            </a:solidFill>
            <a:prstDash val="solid"/>
          </a:ln>
        </p:spPr>
      </p:sp>
      <p:sp>
        <p:nvSpPr>
          <p:cNvPr id="3" name="Text 1"/>
          <p:cNvSpPr/>
          <p:nvPr/>
        </p:nvSpPr>
        <p:spPr>
          <a:xfrm>
            <a:off x="548640" y="457200"/>
            <a:ext cx="6858000" cy="36576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Demo 03</a:t>
            </a:r>
            <a:endParaRPr lang="en-US" sz="1400" dirty="0"/>
          </a:p>
        </p:txBody>
      </p:sp>
      <p:sp>
        <p:nvSpPr>
          <p:cNvPr id="4" name="Text 2"/>
          <p:cNvSpPr/>
          <p:nvPr/>
        </p:nvSpPr>
        <p:spPr>
          <a:xfrm>
            <a:off x="548640" y="914400"/>
            <a:ext cx="7132320" cy="1463040"/>
          </a:xfrm>
          <a:prstGeom prst="rect">
            <a:avLst/>
          </a:prstGeom>
          <a:noFill/>
          <a:ln/>
        </p:spPr>
        <p:txBody>
          <a:bodyPr wrap="square"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A chart formulas can't draw</a:t>
            </a:r>
            <a:endParaRPr lang="en-US" sz="3200" dirty="0"/>
          </a:p>
        </p:txBody>
      </p:sp>
      <p:sp>
        <p:nvSpPr>
          <p:cNvPr id="5" name="Text 3"/>
          <p:cNvSpPr/>
          <p:nvPr/>
        </p:nvSpPr>
        <p:spPr>
          <a:xfrm>
            <a:off x="548640" y="2743200"/>
            <a:ext cx="7132320" cy="3657600"/>
          </a:xfrm>
          <a:prstGeom prst="rect">
            <a:avLst/>
          </a:prstGeom>
          <a:noFill/>
          <a:ln/>
        </p:spPr>
        <p:txBody>
          <a:bodyPr wrap="square" rtlCol="0" anchor="ctr"/>
          <a:lstStyle/>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Add a revenue column — one line of pandas math</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Compute correlations with .corr(numeric_only=True)</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Render with seaborn — annotated, diverging palette, centered at zero</a:t>
            </a:r>
            <a:endParaRPr lang="en-US" sz="1600" dirty="0"/>
          </a:p>
          <a:p>
            <a:pPr marL="342900" indent="-342900">
              <a:spcAft>
                <a:spcPts val="800"/>
              </a:spcAft>
              <a:buSzPct val="100000"/>
              <a:buChar char="■"/>
            </a:pPr>
            <a:r>
              <a:rPr lang="en-US" sz="1600" dirty="0">
                <a:solidFill>
                  <a:srgbClr val="707070"/>
                </a:solidFill>
                <a:latin typeface="Arial" pitchFamily="34" charset="0"/>
                <a:ea typeface="Arial" pitchFamily="34" charset="-122"/>
                <a:cs typeface="Arial" pitchFamily="34" charset="-120"/>
              </a:rPr>
              <a:t>Bonus: sns.pairplot(sales, hue='category') for a scatter matrix</a:t>
            </a:r>
            <a:endParaRPr lang="en-US" sz="1600" dirty="0"/>
          </a:p>
          <a:p>
            <a:pPr marL="342900" indent="-342900">
              <a:spcAft>
                <a:spcPts val="800"/>
              </a:spcAft>
              <a:buSzPct val="100000"/>
              <a:buChar char="■"/>
            </a:pPr>
            <a:r>
              <a:rPr lang="en-US" sz="1600" b="1" dirty="0">
                <a:solidFill>
                  <a:srgbClr val="CF3338"/>
                </a:solidFill>
                <a:latin typeface="Arial" pitchFamily="34" charset="0"/>
                <a:ea typeface="Arial" pitchFamily="34" charset="-122"/>
                <a:cs typeface="Arial" pitchFamily="34" charset="-120"/>
              </a:rPr>
              <a:t>Excel can't make this chart natively. PY did it in three lines.</a:t>
            </a:r>
            <a:endParaRPr lang="en-US" sz="1600" dirty="0"/>
          </a:p>
        </p:txBody>
      </p:sp>
      <p:sp>
        <p:nvSpPr>
          <p:cNvPr id="6" name="Text 4"/>
          <p:cNvSpPr/>
          <p:nvPr/>
        </p:nvSpPr>
        <p:spPr>
          <a:xfrm>
            <a:off x="8183880" y="548640"/>
            <a:ext cx="3931920" cy="365760"/>
          </a:xfrm>
          <a:prstGeom prst="rect">
            <a:avLst/>
          </a:prstGeom>
          <a:noFill/>
          <a:ln/>
        </p:spPr>
        <p:txBody>
          <a:bodyPr wrap="square" rtlCol="0" anchor="ctr"/>
          <a:lstStyle/>
          <a:p>
            <a:pPr indent="0" marL="0">
              <a:buNone/>
            </a:pPr>
            <a:r>
              <a:rPr lang="en-US" sz="1200" i="1" dirty="0">
                <a:solidFill>
                  <a:srgbClr val="FFFFFF"/>
                </a:solidFill>
                <a:latin typeface="Arial" pitchFamily="34" charset="0"/>
                <a:ea typeface="Arial" pitchFamily="34" charset="-122"/>
                <a:cs typeface="Arial" pitchFamily="34" charset="-120"/>
              </a:rPr>
              <a:t>In Excel:</a:t>
            </a:r>
            <a:endParaRPr lang="en-US" sz="1200" dirty="0"/>
          </a:p>
        </p:txBody>
      </p:sp>
      <p:sp>
        <p:nvSpPr>
          <p:cNvPr id="7" name="Text 5"/>
          <p:cNvSpPr/>
          <p:nvPr/>
        </p:nvSpPr>
        <p:spPr>
          <a:xfrm>
            <a:off x="8183880" y="1051560"/>
            <a:ext cx="3931920" cy="5120640"/>
          </a:xfrm>
          <a:prstGeom prst="rect">
            <a:avLst/>
          </a:prstGeom>
          <a:noFill/>
          <a:ln/>
        </p:spPr>
        <p:txBody>
          <a:bodyPr wrap="square" rtlCol="0" anchor="ctr"/>
          <a:lstStyle/>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sales['revenue'] = (</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sales['unit_price'] *</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sales['quantity'])</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import seaborn as sns</a:t>
            </a:r>
            <a:endParaRPr lang="en-US" sz="1400" dirty="0"/>
          </a:p>
          <a:p>
            <a:pPr indent="0" marL="0">
              <a:lnSpc>
                <a:spcPct val="120000"/>
              </a:lnSpc>
              <a:buNone/>
            </a:pP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sns.heatmap(</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sales.corr(numeric_only=True),</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annot=True,</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cmap='RdBu_r',</a:t>
            </a:r>
            <a:endParaRPr lang="en-US" sz="1400" dirty="0"/>
          </a:p>
          <a:p>
            <a:pPr indent="0" marL="0">
              <a:lnSpc>
                <a:spcPct val="120000"/>
              </a:lnSpc>
              <a:buNone/>
            </a:pPr>
            <a:r>
              <a:rPr lang="en-US" sz="1400" dirty="0">
                <a:solidFill>
                  <a:srgbClr val="FFFFFF"/>
                </a:solidFill>
                <a:latin typeface="Courier New" pitchFamily="34" charset="0"/>
                <a:ea typeface="Courier New" pitchFamily="34" charset="-122"/>
                <a:cs typeface="Courier New" pitchFamily="34" charset="-120"/>
              </a:rPr>
              <a:t>  center=0)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731520" y="2377440"/>
            <a:ext cx="10515600" cy="1097280"/>
          </a:xfrm>
          <a:prstGeom prst="rect">
            <a:avLst/>
          </a:prstGeom>
          <a:noFill/>
          <a:ln/>
        </p:spPr>
        <p:txBody>
          <a:bodyPr wrap="square" rtlCol="0" anchor="ctr"/>
          <a:lstStyle/>
          <a:p>
            <a:pPr indent="0" marL="0">
              <a:buNone/>
            </a:pPr>
            <a:r>
              <a:rPr lang="en-US" sz="4400" b="1" dirty="0">
                <a:solidFill>
                  <a:srgbClr val="FFFFFF"/>
                </a:solidFill>
                <a:latin typeface="Arial Black" pitchFamily="34" charset="0"/>
                <a:ea typeface="Arial Black" pitchFamily="34" charset="-122"/>
                <a:cs typeface="Arial Black" pitchFamily="34" charset="-120"/>
              </a:rPr>
              <a:t>So — where does this get serious?</a:t>
            </a:r>
            <a:endParaRPr lang="en-US" sz="4400" dirty="0"/>
          </a:p>
        </p:txBody>
      </p:sp>
      <p:sp>
        <p:nvSpPr>
          <p:cNvPr id="3" name="Text 1"/>
          <p:cNvSpPr/>
          <p:nvPr/>
        </p:nvSpPr>
        <p:spPr>
          <a:xfrm>
            <a:off x="731520" y="3474720"/>
            <a:ext cx="10515600" cy="731520"/>
          </a:xfrm>
          <a:prstGeom prst="rect">
            <a:avLst/>
          </a:prstGeom>
          <a:noFill/>
          <a:ln/>
        </p:spPr>
        <p:txBody>
          <a:bodyPr wrap="square" rtlCol="0" anchor="ctr"/>
          <a:lstStyle/>
          <a:p>
            <a:pPr indent="0" marL="0">
              <a:buNone/>
            </a:pPr>
            <a:r>
              <a:rPr lang="en-US" sz="2200" i="1" dirty="0">
                <a:solidFill>
                  <a:srgbClr val="FFFFFF"/>
                </a:solidFill>
                <a:latin typeface="Arial" pitchFamily="34" charset="0"/>
                <a:ea typeface="Arial" pitchFamily="34" charset="-122"/>
                <a:cs typeface="Arial" pitchFamily="34" charset="-120"/>
              </a:rPr>
              <a:t>Two ways to keep going after today.</a:t>
            </a:r>
            <a:endParaRPr lang="en-US" sz="2200" dirty="0"/>
          </a:p>
        </p:txBody>
      </p:sp>
      <p:sp>
        <p:nvSpPr>
          <p:cNvPr id="4" name="Text 2"/>
          <p:cNvSpPr/>
          <p:nvPr/>
        </p:nvSpPr>
        <p:spPr>
          <a:xfrm>
            <a:off x="731520" y="6126480"/>
            <a:ext cx="2743200" cy="365760"/>
          </a:xfrm>
          <a:prstGeom prst="rect">
            <a:avLst/>
          </a:prstGeom>
          <a:noFill/>
          <a:ln/>
        </p:spPr>
        <p:txBody>
          <a:bodyPr wrap="square"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Stringfest Analytics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457200"/>
            <a:ext cx="10972800" cy="45720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01  ·  The book</a:t>
            </a:r>
            <a:endParaRPr lang="en-US" sz="1400" dirty="0"/>
          </a:p>
        </p:txBody>
      </p:sp>
      <p:sp>
        <p:nvSpPr>
          <p:cNvPr id="3" name="Text 1"/>
          <p:cNvSpPr/>
          <p:nvPr/>
        </p:nvSpPr>
        <p:spPr>
          <a:xfrm>
            <a:off x="548640" y="868680"/>
            <a:ext cx="10972800" cy="1005840"/>
          </a:xfrm>
          <a:prstGeom prst="rect">
            <a:avLst/>
          </a:prstGeom>
          <a:noFill/>
          <a:ln/>
        </p:spPr>
        <p:txBody>
          <a:bodyPr wrap="square" rtlCol="0" anchor="ctr"/>
          <a:lstStyle/>
          <a:p>
            <a:pPr indent="0" marL="0">
              <a:buNone/>
            </a:pPr>
            <a:r>
              <a:rPr lang="en-US" sz="3800" b="1" dirty="0">
                <a:solidFill>
                  <a:srgbClr val="1F2120"/>
                </a:solidFill>
                <a:latin typeface="Arial Black" pitchFamily="34" charset="0"/>
                <a:ea typeface="Arial Black" pitchFamily="34" charset="-122"/>
                <a:cs typeface="Arial Black" pitchFamily="34" charset="-120"/>
              </a:rPr>
              <a:t>Advancing into Analytics</a:t>
            </a:r>
            <a:endParaRPr lang="en-US" sz="3800" dirty="0"/>
          </a:p>
        </p:txBody>
      </p:sp>
      <p:sp>
        <p:nvSpPr>
          <p:cNvPr id="4" name="Text 2"/>
          <p:cNvSpPr/>
          <p:nvPr/>
        </p:nvSpPr>
        <p:spPr>
          <a:xfrm>
            <a:off x="548640" y="1828800"/>
            <a:ext cx="10972800" cy="457200"/>
          </a:xfrm>
          <a:prstGeom prst="rect">
            <a:avLst/>
          </a:prstGeom>
          <a:noFill/>
          <a:ln/>
        </p:spPr>
        <p:txBody>
          <a:bodyPr wrap="square" rtlCol="0" anchor="ctr"/>
          <a:lstStyle/>
          <a:p>
            <a:pPr indent="0" marL="0">
              <a:buNone/>
            </a:pPr>
            <a:r>
              <a:rPr lang="en-US" sz="1800" i="1" dirty="0">
                <a:solidFill>
                  <a:srgbClr val="707070"/>
                </a:solidFill>
                <a:latin typeface="Arial" pitchFamily="34" charset="0"/>
                <a:ea typeface="Arial" pitchFamily="34" charset="-122"/>
                <a:cs typeface="Arial" pitchFamily="34" charset="-120"/>
              </a:rPr>
              <a:t>From Excel to Python and R  ·  O'Reilly Media</a:t>
            </a:r>
            <a:endParaRPr lang="en-US" sz="1800" dirty="0"/>
          </a:p>
        </p:txBody>
      </p:sp>
      <p:sp>
        <p:nvSpPr>
          <p:cNvPr id="5" name="Shape 3"/>
          <p:cNvSpPr/>
          <p:nvPr/>
        </p:nvSpPr>
        <p:spPr>
          <a:xfrm>
            <a:off x="548640" y="2468880"/>
            <a:ext cx="6858000" cy="3657600"/>
          </a:xfrm>
          <a:prstGeom prst="rect">
            <a:avLst/>
          </a:prstGeom>
          <a:solidFill>
            <a:srgbClr val="FFFFFF"/>
          </a:solidFill>
          <a:ln w="25400">
            <a:solidFill>
              <a:srgbClr val="CF3338"/>
            </a:solidFill>
            <a:prstDash val="solid"/>
          </a:ln>
        </p:spPr>
      </p:sp>
      <p:sp>
        <p:nvSpPr>
          <p:cNvPr id="6" name="Text 4"/>
          <p:cNvSpPr/>
          <p:nvPr/>
        </p:nvSpPr>
        <p:spPr>
          <a:xfrm>
            <a:off x="822960" y="2651760"/>
            <a:ext cx="6400800" cy="3383280"/>
          </a:xfrm>
          <a:prstGeom prst="rect">
            <a:avLst/>
          </a:prstGeom>
          <a:noFill/>
          <a:ln/>
        </p:spPr>
        <p:txBody>
          <a:bodyPr wrap="square" rtlCol="0" anchor="ctr"/>
          <a:lstStyle/>
          <a:p>
            <a:pPr indent="0" marL="0">
              <a:spcAft>
                <a:spcPts val="600"/>
              </a:spcAft>
              <a:buNone/>
            </a:pPr>
            <a:r>
              <a:rPr lang="en-US" sz="1500" b="1" dirty="0">
                <a:solidFill>
                  <a:srgbClr val="1F2120"/>
                </a:solidFill>
                <a:latin typeface="Arial" pitchFamily="34" charset="0"/>
                <a:ea typeface="Arial" pitchFamily="34" charset="-122"/>
                <a:cs typeface="Arial" pitchFamily="34" charset="-120"/>
              </a:rPr>
              <a:t>If today resonated, this is the long-form version.</a:t>
            </a:r>
            <a:endParaRPr lang="en-US" sz="1500" dirty="0"/>
          </a:p>
          <a:p>
            <a:pPr indent="0" marL="0">
              <a:spcAft>
                <a:spcPts val="600"/>
              </a:spcAft>
              <a:buNone/>
            </a:pPr>
            <a:endParaRPr lang="en-US" sz="1500" dirty="0"/>
          </a:p>
          <a:p>
            <a:pPr indent="0" marL="0">
              <a:spcAft>
                <a:spcPts val="600"/>
              </a:spcAft>
              <a:buNone/>
            </a:pPr>
            <a:r>
              <a:rPr lang="en-US" sz="1500" dirty="0">
                <a:solidFill>
                  <a:srgbClr val="707070"/>
                </a:solidFill>
                <a:latin typeface="Arial" pitchFamily="34" charset="0"/>
                <a:ea typeface="Arial" pitchFamily="34" charset="-122"/>
                <a:cs typeface="Arial" pitchFamily="34" charset="-120"/>
              </a:rPr>
              <a:t>Built for Excel users — same mental model you saw today, extended into Python and R, with real datasets and a real workflow.</a:t>
            </a:r>
            <a:endParaRPr lang="en-US" sz="1500" dirty="0"/>
          </a:p>
          <a:p>
            <a:pPr indent="0" marL="0">
              <a:spcAft>
                <a:spcPts val="600"/>
              </a:spcAft>
              <a:buNone/>
            </a:pPr>
            <a:endParaRPr lang="en-US" sz="1500" dirty="0"/>
          </a:p>
          <a:p>
            <a:pPr indent="0" marL="0">
              <a:spcAft>
                <a:spcPts val="600"/>
              </a:spcAft>
              <a:buNone/>
            </a:pPr>
            <a:r>
              <a:rPr lang="en-US" sz="1500" b="1" dirty="0">
                <a:solidFill>
                  <a:srgbClr val="1F2120"/>
                </a:solidFill>
                <a:latin typeface="Arial" pitchFamily="34" charset="0"/>
                <a:ea typeface="Arial" pitchFamily="34" charset="-122"/>
                <a:cs typeface="Arial" pitchFamily="34" charset="-120"/>
              </a:rPr>
              <a:t>What you get:</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Descriptive stats and exploratory analysis the Excel way</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A bridge from formulas → pandas → modeling</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Sample code, datasets, and exercises</a:t>
            </a:r>
            <a:endParaRPr lang="en-US" sz="1500" dirty="0"/>
          </a:p>
        </p:txBody>
      </p:sp>
      <p:sp>
        <p:nvSpPr>
          <p:cNvPr id="7" name="Shape 5"/>
          <p:cNvSpPr/>
          <p:nvPr/>
        </p:nvSpPr>
        <p:spPr>
          <a:xfrm>
            <a:off x="7680960" y="2468880"/>
            <a:ext cx="4023360" cy="3657600"/>
          </a:xfrm>
          <a:prstGeom prst="rect">
            <a:avLst/>
          </a:prstGeom>
          <a:solidFill>
            <a:srgbClr val="CF3338"/>
          </a:solidFill>
          <a:ln w="12700">
            <a:solidFill>
              <a:srgbClr val="CF3338"/>
            </a:solidFill>
            <a:prstDash val="solid"/>
          </a:ln>
        </p:spPr>
      </p:sp>
      <p:sp>
        <p:nvSpPr>
          <p:cNvPr id="8" name="Text 6"/>
          <p:cNvSpPr/>
          <p:nvPr/>
        </p:nvSpPr>
        <p:spPr>
          <a:xfrm>
            <a:off x="7955280" y="2651760"/>
            <a:ext cx="3474720" cy="45720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Where to find it</a:t>
            </a:r>
            <a:endParaRPr lang="en-US" sz="1800" dirty="0"/>
          </a:p>
        </p:txBody>
      </p:sp>
      <p:sp>
        <p:nvSpPr>
          <p:cNvPr id="9" name="Text 7"/>
          <p:cNvSpPr/>
          <p:nvPr/>
        </p:nvSpPr>
        <p:spPr>
          <a:xfrm>
            <a:off x="7955280" y="3246120"/>
            <a:ext cx="3474720" cy="457200"/>
          </a:xfrm>
          <a:prstGeom prst="rect">
            <a:avLst/>
          </a:prstGeom>
          <a:noFill/>
          <a:ln/>
        </p:spPr>
        <p:txBody>
          <a:bodyPr wrap="square" rtlCol="0" anchor="ctr"/>
          <a:lstStyle/>
          <a:p>
            <a:pPr indent="0" marL="0">
              <a:buNone/>
            </a:pPr>
            <a:r>
              <a:rPr lang="en-US" sz="1400" dirty="0">
                <a:solidFill>
                  <a:srgbClr val="FFFFFF"/>
                </a:solidFill>
                <a:latin typeface="Arial" pitchFamily="34" charset="0"/>
                <a:ea typeface="Arial" pitchFamily="34" charset="-122"/>
                <a:cs typeface="Arial" pitchFamily="34" charset="-120"/>
              </a:rPr>
              <a:t>Search:</a:t>
            </a:r>
            <a:endParaRPr lang="en-US" sz="1400" dirty="0"/>
          </a:p>
        </p:txBody>
      </p:sp>
      <p:sp>
        <p:nvSpPr>
          <p:cNvPr id="10" name="Text 8"/>
          <p:cNvSpPr/>
          <p:nvPr/>
        </p:nvSpPr>
        <p:spPr>
          <a:xfrm>
            <a:off x="7955280" y="3794760"/>
            <a:ext cx="3474720" cy="914400"/>
          </a:xfrm>
          <a:prstGeom prst="rect">
            <a:avLst/>
          </a:prstGeom>
          <a:noFill/>
          <a:ln/>
        </p:spPr>
        <p:txBody>
          <a:bodyPr wrap="square" rtlCol="0" anchor="ctr"/>
          <a:lstStyle/>
          <a:p>
            <a:pPr indent="0" marL="0">
              <a:buNone/>
            </a:pPr>
            <a:r>
              <a:rPr lang="en-US" sz="1500" b="1" dirty="0">
                <a:solidFill>
                  <a:srgbClr val="FFFFFF"/>
                </a:solidFill>
                <a:latin typeface="Courier New" pitchFamily="34" charset="0"/>
                <a:ea typeface="Courier New" pitchFamily="34" charset="-122"/>
                <a:cs typeface="Courier New" pitchFamily="34" charset="-120"/>
              </a:rPr>
              <a:t>"Advancing into Analytics</a:t>
            </a:r>
            <a:endParaRPr lang="en-US" sz="1500" dirty="0"/>
          </a:p>
          <a:p>
            <a:pPr indent="0" marL="0">
              <a:buNone/>
            </a:pPr>
            <a:r>
              <a:rPr lang="en-US" sz="1500" b="1" dirty="0">
                <a:solidFill>
                  <a:srgbClr val="FFFFFF"/>
                </a:solidFill>
                <a:latin typeface="Courier New" pitchFamily="34" charset="0"/>
                <a:ea typeface="Courier New" pitchFamily="34" charset="-122"/>
                <a:cs typeface="Courier New" pitchFamily="34" charset="-120"/>
              </a:rPr>
              <a:t>Mount  ·  O'Reilly"</a:t>
            </a:r>
            <a:endParaRPr lang="en-US" sz="1500" dirty="0"/>
          </a:p>
        </p:txBody>
      </p:sp>
      <p:sp>
        <p:nvSpPr>
          <p:cNvPr id="11" name="Text 9"/>
          <p:cNvSpPr/>
          <p:nvPr/>
        </p:nvSpPr>
        <p:spPr>
          <a:xfrm>
            <a:off x="7955280" y="4800600"/>
            <a:ext cx="3474720" cy="457200"/>
          </a:xfrm>
          <a:prstGeom prst="rect">
            <a:avLst/>
          </a:prstGeom>
          <a:noFill/>
          <a:ln/>
        </p:spPr>
        <p:txBody>
          <a:bodyPr wrap="square" rtlCol="0" anchor="ctr"/>
          <a:lstStyle/>
          <a:p>
            <a:pPr indent="0" marL="0">
              <a:buNone/>
            </a:pPr>
            <a:r>
              <a:rPr lang="en-US" sz="1200" i="1" dirty="0">
                <a:solidFill>
                  <a:srgbClr val="FFFFFF"/>
                </a:solidFill>
                <a:latin typeface="Arial" pitchFamily="34" charset="0"/>
                <a:ea typeface="Arial" pitchFamily="34" charset="-122"/>
                <a:cs typeface="Arial" pitchFamily="34" charset="-120"/>
              </a:rPr>
              <a:t>Amazon · O'Reilly · all major sellers</a:t>
            </a:r>
            <a:endParaRPr lang="en-US" sz="1200" dirty="0"/>
          </a:p>
        </p:txBody>
      </p:sp>
      <p:sp>
        <p:nvSpPr>
          <p:cNvPr id="12" name="Text 10"/>
          <p:cNvSpPr/>
          <p:nvPr/>
        </p:nvSpPr>
        <p:spPr>
          <a:xfrm>
            <a:off x="7955280" y="5349240"/>
            <a:ext cx="3474720" cy="45720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stringfestanalytics.com/book</a:t>
            </a:r>
            <a:endParaRPr lang="en-US" sz="1400" dirty="0"/>
          </a:p>
        </p:txBody>
      </p:sp>
      <p:sp>
        <p:nvSpPr>
          <p:cNvPr id="13" name="Text 11"/>
          <p:cNvSpPr/>
          <p:nvPr/>
        </p:nvSpPr>
        <p:spPr>
          <a:xfrm>
            <a:off x="457200" y="6537960"/>
            <a:ext cx="7315200" cy="274320"/>
          </a:xfrm>
          <a:prstGeom prst="rect">
            <a:avLst/>
          </a:prstGeom>
          <a:noFill/>
          <a:ln/>
        </p:spPr>
        <p:txBody>
          <a:bodyPr wrap="square" rtlCol="0" anchor="ctr"/>
          <a:lstStyle/>
          <a:p>
            <a:pPr indent="0" marL="0">
              <a:buNone/>
            </a:pPr>
            <a:r>
              <a:rPr lang="en-US" sz="1000" i="1" dirty="0">
                <a:solidFill>
                  <a:srgbClr val="707070"/>
                </a:solidFill>
                <a:latin typeface="Arial" pitchFamily="34" charset="0"/>
                <a:ea typeface="Arial" pitchFamily="34" charset="-122"/>
                <a:cs typeface="Arial" pitchFamily="34" charset="-120"/>
              </a:rPr>
              <a:t>Python in Excel Demo Day  ·  stringfestanalytics.com</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548640" y="457200"/>
            <a:ext cx="10972800" cy="457200"/>
          </a:xfrm>
          <a:prstGeom prst="rect">
            <a:avLst/>
          </a:prstGeom>
          <a:noFill/>
          <a:ln/>
        </p:spPr>
        <p:txBody>
          <a:bodyPr wrap="square" rtlCol="0" anchor="ctr"/>
          <a:lstStyle/>
          <a:p>
            <a:pPr indent="0" marL="0">
              <a:buNone/>
            </a:pPr>
            <a:r>
              <a:rPr lang="en-US" sz="1400" b="1" dirty="0">
                <a:solidFill>
                  <a:srgbClr val="CF3338"/>
                </a:solidFill>
                <a:latin typeface="Arial" pitchFamily="34" charset="0"/>
                <a:ea typeface="Arial" pitchFamily="34" charset="-122"/>
                <a:cs typeface="Arial" pitchFamily="34" charset="-120"/>
              </a:rPr>
              <a:t>02  ·  The membership</a:t>
            </a:r>
            <a:endParaRPr lang="en-US" sz="1400" dirty="0"/>
          </a:p>
        </p:txBody>
      </p:sp>
      <p:sp>
        <p:nvSpPr>
          <p:cNvPr id="3" name="Text 1"/>
          <p:cNvSpPr/>
          <p:nvPr/>
        </p:nvSpPr>
        <p:spPr>
          <a:xfrm>
            <a:off x="548640" y="868680"/>
            <a:ext cx="10972800" cy="1005840"/>
          </a:xfrm>
          <a:prstGeom prst="rect">
            <a:avLst/>
          </a:prstGeom>
          <a:noFill/>
          <a:ln/>
        </p:spPr>
        <p:txBody>
          <a:bodyPr wrap="square" rtlCol="0" anchor="ctr"/>
          <a:lstStyle/>
          <a:p>
            <a:pPr indent="0" marL="0">
              <a:buNone/>
            </a:pPr>
            <a:r>
              <a:rPr lang="en-US" sz="3800" b="1" dirty="0">
                <a:solidFill>
                  <a:srgbClr val="1F2120"/>
                </a:solidFill>
                <a:latin typeface="Arial Black" pitchFamily="34" charset="0"/>
                <a:ea typeface="Arial Black" pitchFamily="34" charset="-122"/>
                <a:cs typeface="Arial Black" pitchFamily="34" charset="-120"/>
              </a:rPr>
              <a:t>Modern Excel + AI Skills</a:t>
            </a:r>
            <a:endParaRPr lang="en-US" sz="3800" dirty="0"/>
          </a:p>
        </p:txBody>
      </p:sp>
      <p:sp>
        <p:nvSpPr>
          <p:cNvPr id="4" name="Text 2"/>
          <p:cNvSpPr/>
          <p:nvPr/>
        </p:nvSpPr>
        <p:spPr>
          <a:xfrm>
            <a:off x="548640" y="1828800"/>
            <a:ext cx="10972800" cy="457200"/>
          </a:xfrm>
          <a:prstGeom prst="rect">
            <a:avLst/>
          </a:prstGeom>
          <a:noFill/>
          <a:ln/>
        </p:spPr>
        <p:txBody>
          <a:bodyPr wrap="square" rtlCol="0" anchor="ctr"/>
          <a:lstStyle/>
          <a:p>
            <a:pPr indent="0" marL="0">
              <a:buNone/>
            </a:pPr>
            <a:r>
              <a:rPr lang="en-US" sz="1800" i="1" dirty="0">
                <a:solidFill>
                  <a:srgbClr val="707070"/>
                </a:solidFill>
                <a:latin typeface="Arial" pitchFamily="34" charset="0"/>
                <a:ea typeface="Arial" pitchFamily="34" charset="-122"/>
                <a:cs typeface="Arial" pitchFamily="34" charset="-120"/>
              </a:rPr>
              <a:t>Where today's recording, the workbooks, and the rest of the library live.</a:t>
            </a:r>
            <a:endParaRPr lang="en-US" sz="1800" dirty="0"/>
          </a:p>
        </p:txBody>
      </p:sp>
      <p:sp>
        <p:nvSpPr>
          <p:cNvPr id="5" name="Shape 3"/>
          <p:cNvSpPr/>
          <p:nvPr/>
        </p:nvSpPr>
        <p:spPr>
          <a:xfrm>
            <a:off x="548640" y="2468880"/>
            <a:ext cx="6858000" cy="3657600"/>
          </a:xfrm>
          <a:prstGeom prst="rect">
            <a:avLst/>
          </a:prstGeom>
          <a:solidFill>
            <a:srgbClr val="FFFFFF"/>
          </a:solidFill>
          <a:ln w="25400">
            <a:solidFill>
              <a:srgbClr val="CF3338"/>
            </a:solidFill>
            <a:prstDash val="solid"/>
          </a:ln>
        </p:spPr>
      </p:sp>
      <p:sp>
        <p:nvSpPr>
          <p:cNvPr id="6" name="Text 4"/>
          <p:cNvSpPr/>
          <p:nvPr/>
        </p:nvSpPr>
        <p:spPr>
          <a:xfrm>
            <a:off x="822960" y="2651760"/>
            <a:ext cx="6400800" cy="3383280"/>
          </a:xfrm>
          <a:prstGeom prst="rect">
            <a:avLst/>
          </a:prstGeom>
          <a:noFill/>
          <a:ln/>
        </p:spPr>
        <p:txBody>
          <a:bodyPr wrap="square" rtlCol="0" anchor="ctr"/>
          <a:lstStyle/>
          <a:p>
            <a:pPr indent="0" marL="0">
              <a:spcAft>
                <a:spcPts val="600"/>
              </a:spcAft>
              <a:buNone/>
            </a:pPr>
            <a:r>
              <a:rPr lang="en-US" sz="1500" b="1" dirty="0">
                <a:solidFill>
                  <a:srgbClr val="1F2120"/>
                </a:solidFill>
                <a:latin typeface="Arial" pitchFamily="34" charset="0"/>
                <a:ea typeface="Arial" pitchFamily="34" charset="-122"/>
                <a:cs typeface="Arial" pitchFamily="34" charset="-120"/>
              </a:rPr>
              <a:t>What's inside:</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Today's recording, posted after the event</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The full workshop catalog — Python in Excel, Power Query, AI for Excel, Modern Excel</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Workbooks, datasets, and cheat sheets you can keep</a:t>
            </a:r>
            <a:endParaRPr lang="en-US" sz="1500" dirty="0"/>
          </a:p>
          <a:p>
            <a:pPr marL="342900" indent="-342900">
              <a:spcAft>
                <a:spcPts val="600"/>
              </a:spcAft>
              <a:buSzPct val="100000"/>
              <a:buChar char="■"/>
            </a:pPr>
            <a:r>
              <a:rPr lang="en-US" sz="1500" dirty="0">
                <a:solidFill>
                  <a:srgbClr val="707070"/>
                </a:solidFill>
                <a:latin typeface="Arial" pitchFamily="34" charset="0"/>
                <a:ea typeface="Arial" pitchFamily="34" charset="-122"/>
                <a:cs typeface="Arial" pitchFamily="34" charset="-120"/>
              </a:rPr>
              <a:t>New sessions added every month</a:t>
            </a:r>
            <a:endParaRPr lang="en-US" sz="1500" dirty="0"/>
          </a:p>
          <a:p>
            <a:pPr indent="0" marL="0">
              <a:spcAft>
                <a:spcPts val="600"/>
              </a:spcAft>
              <a:buNone/>
            </a:pPr>
            <a:endParaRPr lang="en-US" sz="1500" dirty="0"/>
          </a:p>
          <a:p>
            <a:pPr indent="0" marL="0">
              <a:spcAft>
                <a:spcPts val="600"/>
              </a:spcAft>
              <a:buNone/>
            </a:pPr>
            <a:r>
              <a:rPr lang="en-US" sz="1500" i="1" dirty="0">
                <a:solidFill>
                  <a:srgbClr val="1F2120"/>
                </a:solidFill>
                <a:latin typeface="Arial" pitchFamily="34" charset="0"/>
                <a:ea typeface="Arial" pitchFamily="34" charset="-122"/>
                <a:cs typeface="Arial" pitchFamily="34" charset="-120"/>
              </a:rPr>
              <a:t>Built for Excel users who want a modern toolkit without the bootcamp.</a:t>
            </a:r>
            <a:endParaRPr lang="en-US" sz="1500" dirty="0"/>
          </a:p>
        </p:txBody>
      </p:sp>
      <p:sp>
        <p:nvSpPr>
          <p:cNvPr id="7" name="Shape 5"/>
          <p:cNvSpPr/>
          <p:nvPr/>
        </p:nvSpPr>
        <p:spPr>
          <a:xfrm>
            <a:off x="7680960" y="2468880"/>
            <a:ext cx="4023360" cy="3657600"/>
          </a:xfrm>
          <a:prstGeom prst="rect">
            <a:avLst/>
          </a:prstGeom>
          <a:solidFill>
            <a:srgbClr val="CF3338"/>
          </a:solidFill>
          <a:ln w="12700">
            <a:solidFill>
              <a:srgbClr val="CF3338"/>
            </a:solidFill>
            <a:prstDash val="solid"/>
          </a:ln>
        </p:spPr>
      </p:sp>
      <p:sp>
        <p:nvSpPr>
          <p:cNvPr id="8" name="Text 6"/>
          <p:cNvSpPr/>
          <p:nvPr/>
        </p:nvSpPr>
        <p:spPr>
          <a:xfrm>
            <a:off x="7955280" y="2651760"/>
            <a:ext cx="3474720" cy="45720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Join the membership</a:t>
            </a:r>
            <a:endParaRPr lang="en-US" sz="1800" dirty="0"/>
          </a:p>
        </p:txBody>
      </p:sp>
      <p:sp>
        <p:nvSpPr>
          <p:cNvPr id="9" name="Text 7"/>
          <p:cNvSpPr/>
          <p:nvPr/>
        </p:nvSpPr>
        <p:spPr>
          <a:xfrm>
            <a:off x="7955280" y="3246120"/>
            <a:ext cx="3474720" cy="45720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stringfestdata.gumroad.com/l/mxlais</a:t>
            </a:r>
            <a:endParaRPr lang="en-US" sz="1200" dirty="0"/>
          </a:p>
        </p:txBody>
      </p:sp>
      <p:sp>
        <p:nvSpPr>
          <p:cNvPr id="10" name="Text 8"/>
          <p:cNvSpPr/>
          <p:nvPr/>
        </p:nvSpPr>
        <p:spPr>
          <a:xfrm>
            <a:off x="7955280" y="3794760"/>
            <a:ext cx="3474720" cy="182880"/>
          </a:xfrm>
          <a:prstGeom prst="rect">
            <a:avLst/>
          </a:prstGeom>
          <a:noFill/>
          <a:ln/>
        </p:spPr>
        <p:txBody>
          <a:bodyPr wrap="square" rtlCol="0" anchor="ctr"/>
          <a:lstStyle/>
          <a:p>
            <a:pPr indent="0" marL="0">
              <a:buNone/>
            </a:pPr>
            <a:endParaRPr lang="en-US" sz="1400" dirty="0"/>
          </a:p>
        </p:txBody>
      </p:sp>
      <p:sp>
        <p:nvSpPr>
          <p:cNvPr id="11" name="Text 9"/>
          <p:cNvSpPr/>
          <p:nvPr/>
        </p:nvSpPr>
        <p:spPr>
          <a:xfrm>
            <a:off x="7955280" y="4069080"/>
            <a:ext cx="3474720" cy="1371600"/>
          </a:xfrm>
          <a:prstGeom prst="rect">
            <a:avLst/>
          </a:prstGeom>
          <a:noFill/>
          <a:ln/>
        </p:spPr>
        <p:txBody>
          <a:bodyPr wrap="square" rtlCol="0" anchor="ctr"/>
          <a:lstStyle/>
          <a:p>
            <a:pPr indent="0" marL="0">
              <a:buNone/>
            </a:pPr>
            <a:r>
              <a:rPr lang="en-US" sz="1300" dirty="0">
                <a:solidFill>
                  <a:srgbClr val="FFFFFF"/>
                </a:solidFill>
                <a:latin typeface="Arial" pitchFamily="34" charset="0"/>
                <a:ea typeface="Arial" pitchFamily="34" charset="-122"/>
                <a:cs typeface="Arial" pitchFamily="34" charset="-120"/>
              </a:rPr>
              <a:t>Today's recording will be added to the library — members get the long version of every demo you saw.</a:t>
            </a:r>
            <a:endParaRPr lang="en-US" sz="1300" dirty="0"/>
          </a:p>
        </p:txBody>
      </p:sp>
      <p:sp>
        <p:nvSpPr>
          <p:cNvPr id="12" name="Text 10"/>
          <p:cNvSpPr/>
          <p:nvPr/>
        </p:nvSpPr>
        <p:spPr>
          <a:xfrm>
            <a:off x="7955280" y="5532120"/>
            <a:ext cx="3474720"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 Link in the chat</a:t>
            </a:r>
            <a:endParaRPr lang="en-US" sz="1600" dirty="0"/>
          </a:p>
        </p:txBody>
      </p:sp>
      <p:sp>
        <p:nvSpPr>
          <p:cNvPr id="13" name="Text 11"/>
          <p:cNvSpPr/>
          <p:nvPr/>
        </p:nvSpPr>
        <p:spPr>
          <a:xfrm>
            <a:off x="457200" y="6537960"/>
            <a:ext cx="7315200" cy="274320"/>
          </a:xfrm>
          <a:prstGeom prst="rect">
            <a:avLst/>
          </a:prstGeom>
          <a:noFill/>
          <a:ln/>
        </p:spPr>
        <p:txBody>
          <a:bodyPr wrap="square" rtlCol="0" anchor="ctr"/>
          <a:lstStyle/>
          <a:p>
            <a:pPr indent="0" marL="0">
              <a:buNone/>
            </a:pPr>
            <a:r>
              <a:rPr lang="en-US" sz="1000" i="1" dirty="0">
                <a:solidFill>
                  <a:srgbClr val="707070"/>
                </a:solidFill>
                <a:latin typeface="Arial" pitchFamily="34" charset="0"/>
                <a:ea typeface="Arial" pitchFamily="34" charset="-122"/>
                <a:cs typeface="Arial" pitchFamily="34" charset="-120"/>
              </a:rPr>
              <a:t>Python in Excel Demo Day  ·  stringfestanalytics.com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C00000"/>
        </a:solidFill>
      </p:bgPr>
    </p:bg>
    <p:spTree>
      <p:nvGrpSpPr>
        <p:cNvPr id="1" name=""/>
        <p:cNvGrpSpPr/>
        <p:nvPr/>
      </p:nvGrpSpPr>
      <p:grpSpPr>
        <a:xfrm>
          <a:off x="0" y="0"/>
          <a:ext cx="0" cy="0"/>
          <a:chOff x="0" y="0"/>
          <a:chExt cx="0" cy="0"/>
        </a:xfrm>
      </p:grpSpPr>
      <p:sp>
        <p:nvSpPr>
          <p:cNvPr id="2" name="Text 0"/>
          <p:cNvSpPr/>
          <p:nvPr/>
        </p:nvSpPr>
        <p:spPr>
          <a:xfrm>
            <a:off x="731520" y="2194560"/>
            <a:ext cx="10515600" cy="1463040"/>
          </a:xfrm>
          <a:prstGeom prst="rect">
            <a:avLst/>
          </a:prstGeom>
          <a:noFill/>
          <a:ln/>
        </p:spPr>
        <p:txBody>
          <a:bodyPr wrap="square" rtlCol="0" anchor="ctr"/>
          <a:lstStyle/>
          <a:p>
            <a:pPr indent="0" marL="0">
              <a:buNone/>
            </a:pPr>
            <a:r>
              <a:rPr lang="en-US" sz="8800" b="1" dirty="0">
                <a:solidFill>
                  <a:srgbClr val="FFFFFF"/>
                </a:solidFill>
                <a:latin typeface="Arial Black" pitchFamily="34" charset="0"/>
                <a:ea typeface="Arial Black" pitchFamily="34" charset="-122"/>
                <a:cs typeface="Arial Black" pitchFamily="34" charset="-120"/>
              </a:rPr>
              <a:t>Questions?</a:t>
            </a:r>
            <a:endParaRPr lang="en-US" sz="8800" dirty="0"/>
          </a:p>
        </p:txBody>
      </p:sp>
      <p:sp>
        <p:nvSpPr>
          <p:cNvPr id="3" name="Text 1"/>
          <p:cNvSpPr/>
          <p:nvPr/>
        </p:nvSpPr>
        <p:spPr>
          <a:xfrm>
            <a:off x="731520" y="3840480"/>
            <a:ext cx="10515600" cy="54864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Drop them in the chat — I'll work through as many as time allows.</a:t>
            </a:r>
            <a:endParaRPr lang="en-US" sz="2000" dirty="0"/>
          </a:p>
        </p:txBody>
      </p:sp>
      <p:sp>
        <p:nvSpPr>
          <p:cNvPr id="4" name="Text 2"/>
          <p:cNvSpPr/>
          <p:nvPr/>
        </p:nvSpPr>
        <p:spPr>
          <a:xfrm>
            <a:off x="731520" y="6126480"/>
            <a:ext cx="2743200" cy="365760"/>
          </a:xfrm>
          <a:prstGeom prst="rect">
            <a:avLst/>
          </a:prstGeom>
          <a:noFill/>
          <a:ln/>
        </p:spPr>
        <p:txBody>
          <a:bodyPr wrap="square" rtlCol="0" anchor="ctr"/>
          <a:lstStyle/>
          <a:p>
            <a:pPr indent="0" marL="0">
              <a:buNone/>
            </a:pPr>
            <a:r>
              <a:rPr lang="en-US" sz="1400" b="1" dirty="0">
                <a:solidFill>
                  <a:srgbClr val="FFFFFF"/>
                </a:solidFill>
                <a:latin typeface="Arial Black" pitchFamily="34" charset="0"/>
                <a:ea typeface="Arial Black" pitchFamily="34" charset="-122"/>
                <a:cs typeface="Arial Black" pitchFamily="34" charset="-120"/>
              </a:rPr>
              <a:t>Stringfest Analytics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CE1"/>
        </a:solidFill>
      </p:bgPr>
    </p:bg>
    <p:spTree>
      <p:nvGrpSpPr>
        <p:cNvPr id="1" name=""/>
        <p:cNvGrpSpPr/>
        <p:nvPr/>
      </p:nvGrpSpPr>
      <p:grpSpPr>
        <a:xfrm>
          <a:off x="0" y="0"/>
          <a:ext cx="0" cy="0"/>
          <a:chOff x="0" y="0"/>
          <a:chExt cx="0" cy="0"/>
        </a:xfrm>
      </p:grpSpPr>
      <p:sp>
        <p:nvSpPr>
          <p:cNvPr id="2" name="Text 0"/>
          <p:cNvSpPr/>
          <p:nvPr/>
        </p:nvSpPr>
        <p:spPr>
          <a:xfrm>
            <a:off x="457200" y="457200"/>
            <a:ext cx="2743200" cy="365760"/>
          </a:xfrm>
          <a:prstGeom prst="rect">
            <a:avLst/>
          </a:prstGeom>
          <a:noFill/>
          <a:ln/>
        </p:spPr>
        <p:txBody>
          <a:bodyPr wrap="square" rtlCol="0" anchor="ctr"/>
          <a:lstStyle/>
          <a:p>
            <a:pPr indent="0" marL="0">
              <a:buNone/>
            </a:pPr>
            <a:r>
              <a:rPr lang="en-US" sz="1400" b="1" dirty="0">
                <a:solidFill>
                  <a:srgbClr val="1F2120"/>
                </a:solidFill>
                <a:latin typeface="Arial Black" pitchFamily="34" charset="0"/>
                <a:ea typeface="Arial Black" pitchFamily="34" charset="-122"/>
                <a:cs typeface="Arial Black" pitchFamily="34" charset="-120"/>
              </a:rPr>
              <a:t>Stringfest Analytics</a:t>
            </a:r>
            <a:endParaRPr lang="en-US" sz="1400" dirty="0"/>
          </a:p>
        </p:txBody>
      </p:sp>
      <p:sp>
        <p:nvSpPr>
          <p:cNvPr id="3" name="Text 1"/>
          <p:cNvSpPr/>
          <p:nvPr/>
        </p:nvSpPr>
        <p:spPr>
          <a:xfrm>
            <a:off x="548640" y="1371600"/>
            <a:ext cx="10972800" cy="822960"/>
          </a:xfrm>
          <a:prstGeom prst="rect">
            <a:avLst/>
          </a:prstGeom>
          <a:noFill/>
          <a:ln/>
        </p:spPr>
        <p:txBody>
          <a:bodyPr wrap="square" rtlCol="0" anchor="ctr"/>
          <a:lstStyle/>
          <a:p>
            <a:pPr indent="0" marL="0">
              <a:buNone/>
            </a:pPr>
            <a:r>
              <a:rPr lang="en-US" sz="3200" b="1" dirty="0">
                <a:solidFill>
                  <a:srgbClr val="1F2120"/>
                </a:solidFill>
                <a:latin typeface="Arial Black" pitchFamily="34" charset="0"/>
                <a:ea typeface="Arial Black" pitchFamily="34" charset="-122"/>
                <a:cs typeface="Arial Black" pitchFamily="34" charset="-120"/>
              </a:rPr>
              <a:t>Thanks for spending an hour with me.</a:t>
            </a:r>
            <a:endParaRPr lang="en-US" sz="3200" dirty="0"/>
          </a:p>
        </p:txBody>
      </p:sp>
      <p:sp>
        <p:nvSpPr>
          <p:cNvPr id="4" name="Text 2"/>
          <p:cNvSpPr/>
          <p:nvPr/>
        </p:nvSpPr>
        <p:spPr>
          <a:xfrm>
            <a:off x="548640" y="2194560"/>
            <a:ext cx="10972800" cy="457200"/>
          </a:xfrm>
          <a:prstGeom prst="rect">
            <a:avLst/>
          </a:prstGeom>
          <a:noFill/>
          <a:ln/>
        </p:spPr>
        <p:txBody>
          <a:bodyPr wrap="square" rtlCol="0" anchor="ctr"/>
          <a:lstStyle/>
          <a:p>
            <a:pPr indent="0" marL="0">
              <a:buNone/>
            </a:pPr>
            <a:r>
              <a:rPr lang="en-US" sz="1800" i="1" dirty="0">
                <a:solidFill>
                  <a:srgbClr val="707070"/>
                </a:solidFill>
                <a:latin typeface="Arial" pitchFamily="34" charset="0"/>
                <a:ea typeface="Arial" pitchFamily="34" charset="-122"/>
                <a:cs typeface="Arial" pitchFamily="34" charset="-120"/>
              </a:rPr>
              <a:t>Three places to go next:</a:t>
            </a:r>
            <a:endParaRPr lang="en-US" sz="1800" dirty="0"/>
          </a:p>
        </p:txBody>
      </p:sp>
      <p:sp>
        <p:nvSpPr>
          <p:cNvPr id="5" name="Shape 3"/>
          <p:cNvSpPr/>
          <p:nvPr/>
        </p:nvSpPr>
        <p:spPr>
          <a:xfrm>
            <a:off x="548640" y="2743200"/>
            <a:ext cx="3657600" cy="3017520"/>
          </a:xfrm>
          <a:prstGeom prst="rect">
            <a:avLst/>
          </a:prstGeom>
          <a:solidFill>
            <a:srgbClr val="FFFFFF"/>
          </a:solidFill>
          <a:ln w="25400">
            <a:solidFill>
              <a:srgbClr val="CF3338"/>
            </a:solidFill>
            <a:prstDash val="solid"/>
          </a:ln>
        </p:spPr>
      </p:sp>
      <p:sp>
        <p:nvSpPr>
          <p:cNvPr id="6" name="Text 4"/>
          <p:cNvSpPr/>
          <p:nvPr/>
        </p:nvSpPr>
        <p:spPr>
          <a:xfrm>
            <a:off x="822960" y="2880360"/>
            <a:ext cx="3291840" cy="365760"/>
          </a:xfrm>
          <a:prstGeom prst="rect">
            <a:avLst/>
          </a:prstGeom>
          <a:noFill/>
          <a:ln/>
        </p:spPr>
        <p:txBody>
          <a:bodyPr wrap="square" rtlCol="0" anchor="ctr"/>
          <a:lstStyle/>
          <a:p>
            <a:pPr indent="0" marL="0">
              <a:buNone/>
            </a:pPr>
            <a:r>
              <a:rPr lang="en-US" sz="1300" b="1" dirty="0">
                <a:solidFill>
                  <a:srgbClr val="CF3338"/>
                </a:solidFill>
                <a:latin typeface="Arial" pitchFamily="34" charset="0"/>
                <a:ea typeface="Arial" pitchFamily="34" charset="-122"/>
                <a:cs typeface="Arial" pitchFamily="34" charset="-120"/>
              </a:rPr>
              <a:t>The book</a:t>
            </a:r>
            <a:endParaRPr lang="en-US" sz="1300" dirty="0"/>
          </a:p>
        </p:txBody>
      </p:sp>
      <p:sp>
        <p:nvSpPr>
          <p:cNvPr id="7" name="Text 5"/>
          <p:cNvSpPr/>
          <p:nvPr/>
        </p:nvSpPr>
        <p:spPr>
          <a:xfrm>
            <a:off x="822960" y="3246120"/>
            <a:ext cx="3291840" cy="822960"/>
          </a:xfrm>
          <a:prstGeom prst="rect">
            <a:avLst/>
          </a:prstGeom>
          <a:noFill/>
          <a:ln/>
        </p:spPr>
        <p:txBody>
          <a:bodyPr wrap="square" rtlCol="0" anchor="ctr"/>
          <a:lstStyle/>
          <a:p>
            <a:pPr indent="0" marL="0">
              <a:buNone/>
            </a:pPr>
            <a:r>
              <a:rPr lang="en-US" sz="2000" b="1" dirty="0">
                <a:solidFill>
                  <a:srgbClr val="1F2120"/>
                </a:solidFill>
                <a:latin typeface="Arial Black" pitchFamily="34" charset="0"/>
                <a:ea typeface="Arial Black" pitchFamily="34" charset="-122"/>
                <a:cs typeface="Arial Black" pitchFamily="34" charset="-120"/>
              </a:rPr>
              <a:t>Advancing into Analytics</a:t>
            </a:r>
            <a:endParaRPr lang="en-US" sz="2000" dirty="0"/>
          </a:p>
        </p:txBody>
      </p:sp>
      <p:sp>
        <p:nvSpPr>
          <p:cNvPr id="8" name="Text 6"/>
          <p:cNvSpPr/>
          <p:nvPr/>
        </p:nvSpPr>
        <p:spPr>
          <a:xfrm>
            <a:off x="822960" y="4206240"/>
            <a:ext cx="3291840" cy="1097280"/>
          </a:xfrm>
          <a:prstGeom prst="rect">
            <a:avLst/>
          </a:prstGeom>
          <a:noFill/>
          <a:ln/>
        </p:spPr>
        <p:txBody>
          <a:bodyPr wrap="square" rtlCol="0" anchor="ctr"/>
          <a:lstStyle/>
          <a:p>
            <a:pPr indent="0" marL="0">
              <a:buNone/>
            </a:pPr>
            <a:r>
              <a:rPr lang="en-US" sz="1300" dirty="0">
                <a:solidFill>
                  <a:srgbClr val="707070"/>
                </a:solidFill>
                <a:latin typeface="Arial" pitchFamily="34" charset="0"/>
                <a:ea typeface="Arial" pitchFamily="34" charset="-122"/>
                <a:cs typeface="Arial" pitchFamily="34" charset="-120"/>
              </a:rPr>
              <a:t>From Excel to Python and R. O'Reilly.</a:t>
            </a:r>
            <a:endParaRPr lang="en-US" sz="1300" dirty="0"/>
          </a:p>
        </p:txBody>
      </p:sp>
      <p:sp>
        <p:nvSpPr>
          <p:cNvPr id="9" name="Text 7"/>
          <p:cNvSpPr/>
          <p:nvPr/>
        </p:nvSpPr>
        <p:spPr>
          <a:xfrm>
            <a:off x="822960" y="5257800"/>
            <a:ext cx="3291840" cy="365760"/>
          </a:xfrm>
          <a:prstGeom prst="rect">
            <a:avLst/>
          </a:prstGeom>
          <a:noFill/>
          <a:ln/>
        </p:spPr>
        <p:txBody>
          <a:bodyPr wrap="square" rtlCol="0" anchor="ctr"/>
          <a:lstStyle/>
          <a:p>
            <a:pPr indent="0" marL="0">
              <a:buNone/>
            </a:pPr>
            <a:r>
              <a:rPr lang="en-US" sz="1100" b="1" dirty="0">
                <a:solidFill>
                  <a:srgbClr val="CF3338"/>
                </a:solidFill>
                <a:latin typeface="Courier New" pitchFamily="34" charset="0"/>
                <a:ea typeface="Courier New" pitchFamily="34" charset="-122"/>
                <a:cs typeface="Courier New" pitchFamily="34" charset="-120"/>
              </a:rPr>
              <a:t>stringfestanalytics.com/book</a:t>
            </a:r>
            <a:endParaRPr lang="en-US" sz="1100" dirty="0"/>
          </a:p>
        </p:txBody>
      </p:sp>
      <p:sp>
        <p:nvSpPr>
          <p:cNvPr id="10" name="Shape 8"/>
          <p:cNvSpPr/>
          <p:nvPr/>
        </p:nvSpPr>
        <p:spPr>
          <a:xfrm>
            <a:off x="4389120" y="2743200"/>
            <a:ext cx="3657600" cy="3017520"/>
          </a:xfrm>
          <a:prstGeom prst="rect">
            <a:avLst/>
          </a:prstGeom>
          <a:solidFill>
            <a:srgbClr val="FFFFFF"/>
          </a:solidFill>
          <a:ln w="25400">
            <a:solidFill>
              <a:srgbClr val="CF3338"/>
            </a:solidFill>
            <a:prstDash val="solid"/>
          </a:ln>
        </p:spPr>
      </p:sp>
      <p:sp>
        <p:nvSpPr>
          <p:cNvPr id="11" name="Text 9"/>
          <p:cNvSpPr/>
          <p:nvPr/>
        </p:nvSpPr>
        <p:spPr>
          <a:xfrm>
            <a:off x="4663440" y="2880360"/>
            <a:ext cx="3291840" cy="365760"/>
          </a:xfrm>
          <a:prstGeom prst="rect">
            <a:avLst/>
          </a:prstGeom>
          <a:noFill/>
          <a:ln/>
        </p:spPr>
        <p:txBody>
          <a:bodyPr wrap="square" rtlCol="0" anchor="ctr"/>
          <a:lstStyle/>
          <a:p>
            <a:pPr indent="0" marL="0">
              <a:buNone/>
            </a:pPr>
            <a:r>
              <a:rPr lang="en-US" sz="1300" b="1" dirty="0">
                <a:solidFill>
                  <a:srgbClr val="CF3338"/>
                </a:solidFill>
                <a:latin typeface="Arial" pitchFamily="34" charset="0"/>
                <a:ea typeface="Arial" pitchFamily="34" charset="-122"/>
                <a:cs typeface="Arial" pitchFamily="34" charset="-120"/>
              </a:rPr>
              <a:t>The membership</a:t>
            </a:r>
            <a:endParaRPr lang="en-US" sz="1300" dirty="0"/>
          </a:p>
        </p:txBody>
      </p:sp>
      <p:sp>
        <p:nvSpPr>
          <p:cNvPr id="12" name="Text 10"/>
          <p:cNvSpPr/>
          <p:nvPr/>
        </p:nvSpPr>
        <p:spPr>
          <a:xfrm>
            <a:off x="4663440" y="3246120"/>
            <a:ext cx="3291840" cy="822960"/>
          </a:xfrm>
          <a:prstGeom prst="rect">
            <a:avLst/>
          </a:prstGeom>
          <a:noFill/>
          <a:ln/>
        </p:spPr>
        <p:txBody>
          <a:bodyPr wrap="square" rtlCol="0" anchor="ctr"/>
          <a:lstStyle/>
          <a:p>
            <a:pPr indent="0" marL="0">
              <a:buNone/>
            </a:pPr>
            <a:r>
              <a:rPr lang="en-US" sz="2000" b="1" dirty="0">
                <a:solidFill>
                  <a:srgbClr val="1F2120"/>
                </a:solidFill>
                <a:latin typeface="Arial Black" pitchFamily="34" charset="0"/>
                <a:ea typeface="Arial Black" pitchFamily="34" charset="-122"/>
                <a:cs typeface="Arial Black" pitchFamily="34" charset="-120"/>
              </a:rPr>
              <a:t>Modern Excel + AI Skills</a:t>
            </a:r>
            <a:endParaRPr lang="en-US" sz="2000" dirty="0"/>
          </a:p>
        </p:txBody>
      </p:sp>
      <p:sp>
        <p:nvSpPr>
          <p:cNvPr id="13" name="Text 11"/>
          <p:cNvSpPr/>
          <p:nvPr/>
        </p:nvSpPr>
        <p:spPr>
          <a:xfrm>
            <a:off x="4663440" y="4206240"/>
            <a:ext cx="3291840" cy="1097280"/>
          </a:xfrm>
          <a:prstGeom prst="rect">
            <a:avLst/>
          </a:prstGeom>
          <a:noFill/>
          <a:ln/>
        </p:spPr>
        <p:txBody>
          <a:bodyPr wrap="square" rtlCol="0" anchor="ctr"/>
          <a:lstStyle/>
          <a:p>
            <a:pPr indent="0" marL="0">
              <a:buNone/>
            </a:pPr>
            <a:r>
              <a:rPr lang="en-US" sz="1300" dirty="0">
                <a:solidFill>
                  <a:srgbClr val="707070"/>
                </a:solidFill>
                <a:latin typeface="Arial" pitchFamily="34" charset="0"/>
                <a:ea typeface="Arial" pitchFamily="34" charset="-122"/>
                <a:cs typeface="Arial" pitchFamily="34" charset="-120"/>
              </a:rPr>
              <a:t>Today's recording lives here, plus the rest of the library.</a:t>
            </a:r>
            <a:endParaRPr lang="en-US" sz="1300" dirty="0"/>
          </a:p>
        </p:txBody>
      </p:sp>
      <p:sp>
        <p:nvSpPr>
          <p:cNvPr id="14" name="Text 12"/>
          <p:cNvSpPr/>
          <p:nvPr/>
        </p:nvSpPr>
        <p:spPr>
          <a:xfrm>
            <a:off x="4663440" y="5257800"/>
            <a:ext cx="3291840" cy="365760"/>
          </a:xfrm>
          <a:prstGeom prst="rect">
            <a:avLst/>
          </a:prstGeom>
          <a:noFill/>
          <a:ln/>
        </p:spPr>
        <p:txBody>
          <a:bodyPr wrap="square" rtlCol="0" anchor="ctr"/>
          <a:lstStyle/>
          <a:p>
            <a:pPr indent="0" marL="0">
              <a:buNone/>
            </a:pPr>
            <a:r>
              <a:rPr lang="en-US" sz="1100" b="1" dirty="0">
                <a:solidFill>
                  <a:srgbClr val="CF3338"/>
                </a:solidFill>
                <a:latin typeface="Courier New" pitchFamily="34" charset="0"/>
                <a:ea typeface="Courier New" pitchFamily="34" charset="-122"/>
                <a:cs typeface="Courier New" pitchFamily="34" charset="-120"/>
              </a:rPr>
              <a:t>gumroad.com/l/mxlais</a:t>
            </a:r>
            <a:endParaRPr lang="en-US" sz="1100" dirty="0"/>
          </a:p>
        </p:txBody>
      </p:sp>
      <p:sp>
        <p:nvSpPr>
          <p:cNvPr id="15" name="Shape 13"/>
          <p:cNvSpPr/>
          <p:nvPr/>
        </p:nvSpPr>
        <p:spPr>
          <a:xfrm>
            <a:off x="8229600" y="2743200"/>
            <a:ext cx="3657600" cy="3017520"/>
          </a:xfrm>
          <a:prstGeom prst="rect">
            <a:avLst/>
          </a:prstGeom>
          <a:solidFill>
            <a:srgbClr val="FFFFFF"/>
          </a:solidFill>
          <a:ln w="25400">
            <a:solidFill>
              <a:srgbClr val="CF3338"/>
            </a:solidFill>
            <a:prstDash val="solid"/>
          </a:ln>
        </p:spPr>
      </p:sp>
      <p:sp>
        <p:nvSpPr>
          <p:cNvPr id="16" name="Text 14"/>
          <p:cNvSpPr/>
          <p:nvPr/>
        </p:nvSpPr>
        <p:spPr>
          <a:xfrm>
            <a:off x="8503920" y="2880360"/>
            <a:ext cx="3291840" cy="365760"/>
          </a:xfrm>
          <a:prstGeom prst="rect">
            <a:avLst/>
          </a:prstGeom>
          <a:noFill/>
          <a:ln/>
        </p:spPr>
        <p:txBody>
          <a:bodyPr wrap="square" rtlCol="0" anchor="ctr"/>
          <a:lstStyle/>
          <a:p>
            <a:pPr indent="0" marL="0">
              <a:buNone/>
            </a:pPr>
            <a:r>
              <a:rPr lang="en-US" sz="1300" b="1" dirty="0">
                <a:solidFill>
                  <a:srgbClr val="CF3338"/>
                </a:solidFill>
                <a:latin typeface="Arial" pitchFamily="34" charset="0"/>
                <a:ea typeface="Arial" pitchFamily="34" charset="-122"/>
                <a:cs typeface="Arial" pitchFamily="34" charset="-120"/>
              </a:rPr>
              <a:t>The newsletter</a:t>
            </a:r>
            <a:endParaRPr lang="en-US" sz="1300" dirty="0"/>
          </a:p>
        </p:txBody>
      </p:sp>
      <p:sp>
        <p:nvSpPr>
          <p:cNvPr id="17" name="Text 15"/>
          <p:cNvSpPr/>
          <p:nvPr/>
        </p:nvSpPr>
        <p:spPr>
          <a:xfrm>
            <a:off x="8503920" y="3246120"/>
            <a:ext cx="3291840" cy="822960"/>
          </a:xfrm>
          <a:prstGeom prst="rect">
            <a:avLst/>
          </a:prstGeom>
          <a:noFill/>
          <a:ln/>
        </p:spPr>
        <p:txBody>
          <a:bodyPr wrap="square" rtlCol="0" anchor="ctr"/>
          <a:lstStyle/>
          <a:p>
            <a:pPr indent="0" marL="0">
              <a:buNone/>
            </a:pPr>
            <a:r>
              <a:rPr lang="en-US" sz="2000" b="1" dirty="0">
                <a:solidFill>
                  <a:srgbClr val="1F2120"/>
                </a:solidFill>
                <a:latin typeface="Arial Black" pitchFamily="34" charset="0"/>
                <a:ea typeface="Arial Black" pitchFamily="34" charset="-122"/>
                <a:cs typeface="Arial Black" pitchFamily="34" charset="-120"/>
              </a:rPr>
              <a:t>Stringfest weekly</a:t>
            </a:r>
            <a:endParaRPr lang="en-US" sz="2000" dirty="0"/>
          </a:p>
        </p:txBody>
      </p:sp>
      <p:sp>
        <p:nvSpPr>
          <p:cNvPr id="18" name="Text 16"/>
          <p:cNvSpPr/>
          <p:nvPr/>
        </p:nvSpPr>
        <p:spPr>
          <a:xfrm>
            <a:off x="8503920" y="4206240"/>
            <a:ext cx="3291840" cy="1097280"/>
          </a:xfrm>
          <a:prstGeom prst="rect">
            <a:avLst/>
          </a:prstGeom>
          <a:noFill/>
          <a:ln/>
        </p:spPr>
        <p:txBody>
          <a:bodyPr wrap="square" rtlCol="0" anchor="ctr"/>
          <a:lstStyle/>
          <a:p>
            <a:pPr indent="0" marL="0">
              <a:buNone/>
            </a:pPr>
            <a:r>
              <a:rPr lang="en-US" sz="1300" dirty="0">
                <a:solidFill>
                  <a:srgbClr val="707070"/>
                </a:solidFill>
                <a:latin typeface="Arial" pitchFamily="34" charset="0"/>
                <a:ea typeface="Arial" pitchFamily="34" charset="-122"/>
                <a:cs typeface="Arial" pitchFamily="34" charset="-120"/>
              </a:rPr>
              <a:t>One short email each week on getting more from Excel.</a:t>
            </a:r>
            <a:endParaRPr lang="en-US" sz="1300" dirty="0"/>
          </a:p>
        </p:txBody>
      </p:sp>
      <p:sp>
        <p:nvSpPr>
          <p:cNvPr id="19" name="Text 17"/>
          <p:cNvSpPr/>
          <p:nvPr/>
        </p:nvSpPr>
        <p:spPr>
          <a:xfrm>
            <a:off x="8503920" y="5257800"/>
            <a:ext cx="3291840" cy="365760"/>
          </a:xfrm>
          <a:prstGeom prst="rect">
            <a:avLst/>
          </a:prstGeom>
          <a:noFill/>
          <a:ln/>
        </p:spPr>
        <p:txBody>
          <a:bodyPr wrap="square" rtlCol="0" anchor="ctr"/>
          <a:lstStyle/>
          <a:p>
            <a:pPr indent="0" marL="0">
              <a:buNone/>
            </a:pPr>
            <a:r>
              <a:rPr lang="en-US" sz="1100" b="1" dirty="0">
                <a:solidFill>
                  <a:srgbClr val="CF3338"/>
                </a:solidFill>
                <a:latin typeface="Courier New" pitchFamily="34" charset="0"/>
                <a:ea typeface="Courier New" pitchFamily="34" charset="-122"/>
                <a:cs typeface="Courier New" pitchFamily="34" charset="-120"/>
              </a:rPr>
              <a:t>stringfestanalytics.com/subscribe</a:t>
            </a:r>
            <a:endParaRPr lang="en-US" sz="1100" dirty="0"/>
          </a:p>
        </p:txBody>
      </p:sp>
      <p:sp>
        <p:nvSpPr>
          <p:cNvPr id="20" name="Text 18"/>
          <p:cNvSpPr/>
          <p:nvPr/>
        </p:nvSpPr>
        <p:spPr>
          <a:xfrm>
            <a:off x="548640" y="6126480"/>
            <a:ext cx="10972800" cy="365760"/>
          </a:xfrm>
          <a:prstGeom prst="rect">
            <a:avLst/>
          </a:prstGeom>
          <a:noFill/>
          <a:ln/>
        </p:spPr>
        <p:txBody>
          <a:bodyPr wrap="square" rtlCol="0" anchor="ctr"/>
          <a:lstStyle/>
          <a:p>
            <a:pPr indent="0" marL="0">
              <a:buNone/>
            </a:pPr>
            <a:r>
              <a:rPr lang="en-US" sz="1400" i="1" dirty="0">
                <a:solidFill>
                  <a:srgbClr val="707070"/>
                </a:solidFill>
                <a:latin typeface="Arial" pitchFamily="34" charset="0"/>
                <a:ea typeface="Arial" pitchFamily="34" charset="-122"/>
                <a:cs typeface="Arial" pitchFamily="34" charset="-120"/>
              </a:rPr>
              <a:t>george@stringfestanalytics.com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in Excel Demo Day — Stringfest Analytics</dc:title>
  <dc:subject>PptxGenJS Presentation</dc:subject>
  <dc:creator>George Mount</dc:creator>
  <cp:lastModifiedBy>George Mount</cp:lastModifiedBy>
  <cp:revision>1</cp:revision>
  <dcterms:created xsi:type="dcterms:W3CDTF">2026-05-28T18:40:32Z</dcterms:created>
  <dcterms:modified xsi:type="dcterms:W3CDTF">2026-05-28T18:40:32Z</dcterms:modified>
</cp:coreProperties>
</file>